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7560005" cy="1069200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 Monitor • Guia ilustrado para aprender e consultar durante o uso.</a:t>
            </a:r>
          </a:p>
          <a:p/>
          <a:p>
            <a:r>
              <a:t>1. Organize a aula: Aprenda a solicitar os aparelhos, acompanhar o pedido e registrar a utilização pela turma.</a:t>
            </a:r>
          </a:p>
          <a:p/>
          <a:p>
            <a:r>
              <a:t>2. Complete o empréstimo: Veja como devolver os dispositivos e assinar o relatório depois da conferência.</a:t>
            </a:r>
          </a:p>
          <a:p/>
          <a:p>
            <a:r>
              <a:t>3. Siga as setas: Os números nas imagens indicam os campos e botões explicados na mesma página.</a:t>
            </a:r>
          </a:p>
          <a:p/>
          <a:p>
            <a:r>
              <a:t>As telas usam pessoas e aparelhos fictícios. Endereço do app: app-monitor-interface.onrender.com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Você pode ler na sequência ou ir direto à tarefa de que precisa.</a:t>
            </a:r>
          </a:p>
          <a:p/>
          <a:p>
            <a:r>
              <a:t>1. Primeiro acesso · páginas 3 a 7: Entrar, criar a conta de professor e trocar uma senha provisória.</a:t>
            </a:r>
          </a:p>
          <a:p/>
          <a:p>
            <a:r>
              <a:t>2. Preparar a aula · páginas 8 a 12: Conhecer o painel, solicitar os aparelhos e acompanhar a aprovação.</a:t>
            </a:r>
          </a:p>
          <a:p/>
          <a:p>
            <a:r>
              <a:t>3. Usar e devolver · páginas 13 a 21: Retirar, associar alunos, pedir extras, devolver, conferir e assinar.</a:t>
            </a:r>
          </a:p>
          <a:p/>
          <a:p>
            <a:r>
              <a:t>4. Consultar e resolver · páginas 22 a 28: Histórico, PDF, notificações, senha, celular e respostas às dúvidas mais comuns.</a:t>
            </a:r>
          </a:p>
          <a:p/>
          <a:p>
            <a:r>
              <a:t>Nos exemplos, TAB-001 identifica um aparelho fictício. Use os dados da sua própria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Abra https://app-monitor-interface.onrender.com no navegador.</a:t>
            </a:r>
          </a:p>
          <a:p/>
          <a:p>
            <a:r>
              <a:t>1. Digite seu e-mail: Use o e-mail informado no cadastro. Confira se não há espaços extras ou erro de digitação.</a:t>
            </a:r>
          </a:p>
          <a:p/>
          <a:p>
            <a:r>
              <a:t>2. Digite sua senha: Use a senha da sua conta do App Monitor. Se a escola lhe entregou uma senha provisória, use-a neste primeiro acesso.</a:t>
            </a:r>
          </a:p>
          <a:p/>
          <a:p>
            <a:r>
              <a:t>3. Clique em Entrar: Depois de entrar, confira se o seu nome aparece no cabeçalho e se o perfil está como Professor.</a:t>
            </a:r>
          </a:p>
          <a:p/>
          <a:p>
            <a:r>
              <a:t>Esqueceu a senha? Solicite a redefinição ao administrador da escola. Não crie outra conta para resolver 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cadastro público está disponível somente para professores.</a:t>
            </a:r>
          </a:p>
          <a:p/>
          <a:p>
            <a:r>
              <a:t>1. Abra o cadastro de professor: Na tela de entrada, clique em Sou professor — criar minha conta. O aplicativo abrirá um formulário.</a:t>
            </a:r>
          </a:p>
          <a:p/>
          <a:p>
            <a:r>
              <a:t>2. Já tem uma conta criada pela escola?: Nesse caso, preencha o e-mail e a senha recebidos e use Entrar. Não é necessário se cadastrar novamente.</a:t>
            </a:r>
          </a:p>
          <a:p/>
          <a:p>
            <a:r>
              <a:t>Se aparecer que o e-mail já está cadastrado, procure o administrador para recuperar o acesso.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informações que permitam à escola identificar você.</a:t>
            </a:r>
          </a:p>
          <a:p/>
          <a:p>
            <a:r>
              <a:t>1. Nome completo: Digite seu nome inteiro, com nome e sobrenomes. Evite colocar somente o primeiro nome ou um apelido.</a:t>
            </a:r>
          </a:p>
          <a:p/>
          <a:p>
            <a:r>
              <a:t>2. E-mail: Informe o endereço que você utilizará para entrar no app. Leia novamente antes de continuar: um erro aqui pode dificultar o acesso.</a:t>
            </a:r>
          </a:p>
          <a:p/>
          <a:p>
            <a:r>
              <a:t>Exemplo fictício: Professora Ana Silva. Cada professor deve utilizar sua própria conta.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Conclua o formulário depois de preencher nome completo e e-mail.</a:t>
            </a:r>
          </a:p>
          <a:p/>
          <a:p>
            <a:r>
              <a:t>1. Escolha uma senha: Digite uma senha com pelo menos 12 caracteres. Use uma senha que consiga guardar com segurança.</a:t>
            </a:r>
          </a:p>
          <a:p/>
          <a:p>
            <a:r>
              <a:t>2. Repita a mesma senha: Digite novamente, exatamente como no campo anterior. Os dois valores precisam coincidir.</a:t>
            </a:r>
          </a:p>
          <a:p/>
          <a:p>
            <a:r>
              <a:t>3. Crie a conta: Clique em Criar conta de professor. Quando o cadastro for concluído, o aplicativo abrirá a área do professor.</a:t>
            </a:r>
          </a:p>
          <a:p/>
          <a:p>
            <a:r>
              <a:t>O perfil criado aqui é Professor. O administrador da escola poderá consultar e gerenciar esse cadastro.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tela aparece quando a escola criou ou redefiniu sua conta.</a:t>
            </a:r>
          </a:p>
          <a:p/>
          <a:p>
            <a:r>
              <a:t>1. Informe a senha recebida: Em Senha provisória, digite a senha que o administrador lhe entregou.</a:t>
            </a:r>
          </a:p>
          <a:p/>
          <a:p>
            <a:r>
              <a:t>2. Defina sua nova senha: Crie uma senha de pelo menos 12 caracteres. No campo seguinte, confirme a mesma senha.</a:t>
            </a:r>
          </a:p>
          <a:p/>
          <a:p>
            <a:r>
              <a:t>3. Salve para continuar: Clique em Salvar minha senha. A troca precisa ser concluída antes de usar as funções do aplicativo.</a:t>
            </a:r>
          </a:p>
          <a:p/>
          <a:p>
            <a:r>
              <a:t>Depois da troca, use a nova senha nos próximos acessos. A senha provisória deixa de ser a sua senha de entrada.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Visão geral reúne seus pedidos e suas movimentações.</a:t>
            </a:r>
          </a:p>
          <a:p/>
          <a:p>
            <a:r>
              <a:t>1. Agendamentos: Use este menu para acompanhar os pedidos de aparelhos feitos para suas aulas.</a:t>
            </a:r>
          </a:p>
          <a:p/>
          <a:p>
            <a:r>
              <a:t>2. Meus dispositivos: Abra este menu para ver os aparelhos que a equipe já liberou para você.</a:t>
            </a:r>
          </a:p>
          <a:p/>
          <a:p>
            <a:r>
              <a:t>3. Notificações: O sino reúne avisos do aplicativo. Consulte-o para acompanhar mudanças e pendências.</a:t>
            </a:r>
          </a:p>
          <a:p/>
          <a:p>
            <a:r>
              <a:t>Sua conta de professor acompanha os seus próprios registros. Inventário e gestão de usuários são funções da equipe.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Tenha em mãos a data, o horário, a turma e a quantidade necessária.</a:t>
            </a:r>
          </a:p>
          <a:p/>
          <a:p>
            <a:r>
              <a:t>1. Clique em Novo agendamento: Na Visão geral, use o botão + Novo agendamento. Ele abre o formulário do pedido.</a:t>
            </a:r>
          </a:p>
          <a:p/>
          <a:p>
            <a:r>
              <a:t>2. Também acompanhe pelo menu: O menu Agendamentos permite consultar os pedidos já registrados e iniciar um novo quando necessário.</a:t>
            </a:r>
          </a:p>
          <a:p/>
          <a:p>
            <a:r>
              <a:t>Criar o pedido ainda não significa que os aparelhos foram entregues: ele seguirá para aprovação da equipe.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formulário aberto, identifique a aula que usará os aparelhos.</a:t>
            </a:r>
          </a:p>
          <a:p/>
          <a:p>
            <a:r>
              <a:t>1. Data da aula: Escolha a data correta. O aplicativo permite agendar entre hoje e os próximos 14 dias.</a:t>
            </a:r>
          </a:p>
          <a:p/>
          <a:p>
            <a:r>
              <a:t>2. Horário: Informe o horário previsto para a utilização dos equipamentos.</a:t>
            </a:r>
          </a:p>
          <a:p/>
          <a:p>
            <a:r>
              <a:t>3. Turma: Digite a identificação da turma. Exemplo: 8º Ano B. Use o padrão de identificação adotado pela escola.</a:t>
            </a:r>
          </a:p>
          <a:p/>
          <a:p>
            <a:r>
              <a:t>Confira esses três campos antes de salvar, principalmente quando fizer pedidos para mais de uma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pedido usa o tipo do equipamento, não o modelo ou fabricante.</a:t>
            </a:r>
          </a:p>
          <a:p/>
          <a:p>
            <a:r>
              <a:t>1. Tipo de equipamento: Escolha Tablet, Notebook, Chromebook ou Celular, conforme a necessidade da aula e a orientação da escola.</a:t>
            </a:r>
          </a:p>
          <a:p/>
          <a:p>
            <a:r>
              <a:t>2. Quantidade: Informe a quantidade necessária: de 1 a 25 aparelhos por pedido. Confira o número antes de enviar.</a:t>
            </a:r>
          </a:p>
          <a:p/>
          <a:p>
            <a:r>
              <a:t>3. Salvar agendamento: Clique neste botão. Após salvar, abra Agendamentos e confira se o pedido aparece na lista.</a:t>
            </a:r>
          </a:p>
          <a:p/>
          <a:p>
            <a:r>
              <a:t>Exemplo: para uma atividade em duplas, calcule a quantidade necessária para a turma antes de enviar o pedido.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Abra Agendamentos para consultar a situação da sua solicitação.</a:t>
            </a:r>
          </a:p>
          <a:p/>
          <a:p>
            <a:r>
              <a:t>1. Entenda o status: Pendente significa que a equipe ainda precisa analisar o pedido. Aprovado significa que ele foi aprovado; combine a retirada.</a:t>
            </a:r>
          </a:p>
          <a:p/>
          <a:p>
            <a:r>
              <a:t>2. Editar: Antes da liberação, use Editar se precisar corrigir os dados. Ao salvar uma alteração, o pedido volta para aprovação.</a:t>
            </a:r>
          </a:p>
          <a:p/>
          <a:p>
            <a:r>
              <a:t>3. Cancelar: Se não for mais usar os aparelhos, cancele o pedido enquanto essa ação estiver disponível. Confira se escolheu a solicitação certa.</a:t>
            </a:r>
          </a:p>
          <a:p/>
          <a:p>
            <a:r>
              <a:t>A liberação dos dispositivos ocorre no dia agendado e é registrada pela equipe responsável.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equipe precisa registrar a liberação para que o empréstimo apareça.</a:t>
            </a:r>
          </a:p>
          <a:p/>
          <a:p>
            <a:r>
              <a:t>1. Abra Meus dispositivos: Acesse esse menu depois da entrega dos aparelhos.</a:t>
            </a:r>
          </a:p>
          <a:p/>
          <a:p>
            <a:r>
              <a:t>2. Localize a movimentação: Confira turma, quantidade e situação. Em uso indica que o empréstimo está em andamento.</a:t>
            </a:r>
          </a:p>
          <a:p/>
          <a:p>
            <a:r>
              <a:t>3. Abra os detalhes: Clique em Abrir movimentação para ver a lista de aparelhos e registrar quem está utilizando cada um.</a:t>
            </a:r>
          </a:p>
          <a:p/>
          <a:p>
            <a:r>
              <a:t>Se a movimentação não aparecer, confirme com a equipe se a liberação foi concluída na sua conta e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linha mostra o identificador de um aparelho entregue.</a:t>
            </a:r>
          </a:p>
          <a:p/>
          <a:p>
            <a:r>
              <a:t>1. Preencha os alunos: Ao lado de cada dispositivo, informe o aluno que o utilizou, conforme a orientação da escola. Repita nas demais linhas.</a:t>
            </a:r>
          </a:p>
          <a:p/>
          <a:p>
            <a:r>
              <a:t>2. Salve as associações: Clique em Salvar associações para registrar os nomes durante a aula. Depois, você poderá continuar usando a movimentação.</a:t>
            </a:r>
          </a:p>
          <a:p/>
          <a:p>
            <a:r>
              <a:t>Confira a etiqueta física para não trocar os alunos entre os aparelhos. Todas as associações devem estar preenchidas ao devolver.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solicitação de extras acontece dentro de um empréstimo em uso.</a:t>
            </a:r>
          </a:p>
          <a:p/>
          <a:p>
            <a:r>
              <a:t>1. Abra a solicitação: Na movimentação, clique em Solicitar extras. Será aberto um formulário de quantidade.</a:t>
            </a:r>
          </a:p>
          <a:p/>
          <a:p>
            <a:r>
              <a:t>2. Mantenha o registro dos alunos: Se preencher ou corrigir os alunos durante a aula, use Salvar associações para guardar as alterações.</a:t>
            </a:r>
          </a:p>
          <a:p/>
          <a:p>
            <a:r>
              <a:t>É permitido um único pedido de até 5 aparelhos extras por aula. A equipe ainda precisa efetuar a liberação dos extras.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Escolha a quantidade adicional com atenção.</a:t>
            </a:r>
          </a:p>
          <a:p/>
          <a:p>
            <a:r>
              <a:t>1. Quantidade extra: Informe de 1 a 5 aparelhos adicionais. Essa quantidade é acrescentada ao pedido original, quando liberada pela equipe.</a:t>
            </a:r>
          </a:p>
          <a:p/>
          <a:p>
            <a:r>
              <a:t>2. Enviar pedido: Clique em Enviar pedido e avise a equipe responsável pela entrega. Confira os novos aparelhos na movimentação após a liberação.</a:t>
            </a:r>
          </a:p>
          <a:p/>
          <a:p>
            <a:r>
              <a:t>Não registre aparelhos recebidos por fora do fluxo. Peça à equipe para registrar a entrega no App Monitor.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Ao concluir a aula, confira todos os aparelhos e devolva-os à equipe.</a:t>
            </a:r>
          </a:p>
          <a:p/>
          <a:p>
            <a:r>
              <a:t>1. Escreva o relato: Descreva como terminou a utilização e informe qualquer ocorrência. Exemplo: aula concluída e aparelhos devolvidos sem ocorrências.</a:t>
            </a:r>
          </a:p>
          <a:p/>
          <a:p>
            <a:r>
              <a:t>2. Envie para conferência: Confira os alunos e clique em Enviar devolução. O aplicativo salva as associações e encaminha a movimentação para conferência.</a:t>
            </a:r>
          </a:p>
          <a:p/>
          <a:p>
            <a:r>
              <a:t>Se houve dano, falha ou falta de um aparelho, registre o ocorrido e avise a equipe. O relato deve ter pelo menos 5 caracteres.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Enviar a devolução é uma etapa; o retorno físico ainda será conferido.</a:t>
            </a:r>
          </a:p>
          <a:p/>
          <a:p>
            <a:r>
              <a:t>1. Consulte Meus dispositivos: Acompanhe a movimentação enquanto a equipe verifica os aparelhos recebidos.</a:t>
            </a:r>
          </a:p>
          <a:p/>
          <a:p>
            <a:r>
              <a:t>2. Observe o status de retorno: Conferir retorno indica que os aparelhos aguardam a conferência registrada pela equipe.</a:t>
            </a:r>
          </a:p>
          <a:p/>
          <a:p>
            <a:r>
              <a:t>Depois da conferência, será necessário revisar e assinar o relatório. Fique atento às notificações.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Acesse o relatório depois que a equipe concluir a conferência.</a:t>
            </a:r>
          </a:p>
          <a:p/>
          <a:p>
            <a:r>
              <a:t>1. Relatórios e assinaturas: Abra este menu para encontrar os relatórios e as assinaturas pendentes.</a:t>
            </a:r>
          </a:p>
          <a:p/>
          <a:p>
            <a:r>
              <a:t>2. Ver relatório: Localize a movimentação da sua turma e clique em Ver relatório.</a:t>
            </a:r>
          </a:p>
          <a:p/>
          <a:p>
            <a:r>
              <a:t>Uma assinatura sua pendente pode impedir novos pedidos. Resolva a pendência após conferir as informações do relatório.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Confira se o relatório corresponde ao que aconteceu na aula.</a:t>
            </a:r>
          </a:p>
          <a:p/>
          <a:p>
            <a:r>
              <a:t>1. Identificação da movimentação: Confira professor, turma, situação e datas. Leia também a lista dos aparelhos e o relato registrado.</a:t>
            </a:r>
          </a:p>
          <a:p/>
          <a:p>
            <a:r>
              <a:t>2. Assinaturas: Observe quais assinaturas já foram registradas e quais estão pendentes. Você assina pela sua própria conta de professor.</a:t>
            </a:r>
          </a:p>
          <a:p/>
          <a:p>
            <a:r>
              <a:t>Se encontrar uma divergência, procure a equipe responsável antes de confirmar sua assinatura.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 a janela do relatório até a área da sua assinatura.</a:t>
            </a:r>
          </a:p>
          <a:p/>
          <a:p>
            <a:r>
              <a:t>1. Desenhe neste espaço: No celular, use o dedo. No computador, clique e arraste com o mouse para desenhar sua assinatura.</a:t>
            </a:r>
          </a:p>
          <a:p/>
          <a:p>
            <a:r>
              <a:t>2. Limpar, se precisar refazer: Se o desenho ficar incorreto, clique em Limpar e faça a assinatura novamente.</a:t>
            </a:r>
          </a:p>
          <a:p/>
          <a:p>
            <a:r>
              <a:t>3. Confirme o registro: Quando terminar, clique em Confirmar minha assinatura. Aguarde a confirmação antes de sair.</a:t>
            </a:r>
          </a:p>
          <a:p/>
          <a:p>
            <a:r>
              <a:t>As assinaturas são registros manuscritos feitos por contas autenticadas; não são assinaturas certificadas ICP-Brasil.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Depois das assinaturas necessárias, a movimentação fica disponível no histórico.</a:t>
            </a:r>
          </a:p>
          <a:p/>
          <a:p>
            <a:r>
              <a:t>1. Abra Histórico: Esse menu reúne as movimentações concluídas que você pode consultar.</a:t>
            </a:r>
          </a:p>
          <a:p/>
          <a:p>
            <a:r>
              <a:t>2. Pesquise a movimentação: Use o campo de pesquisa para filtrar pela turma ou pelo professor, conforme os registros disponíveis para sua conta.</a:t>
            </a:r>
          </a:p>
          <a:p/>
          <a:p>
            <a:r>
              <a:t>3. Visualizar / PDF: Clique no botão da linha desejada para abrir novamente o relatório.</a:t>
            </a:r>
          </a:p>
          <a:p/>
          <a:p>
            <a:r>
              <a:t>Se o empréstimo ainda não estiver no histórico, verifique se falta conferência ou alguma assinatura.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Abra o relatório pelo Histórico antes de imprimir ou salvar.</a:t>
            </a:r>
          </a:p>
          <a:p/>
          <a:p>
            <a:r>
              <a:t>1. Imprimir / salvar PDF: Clique neste botão para abrir a janela de impressão do navegador.</a:t>
            </a:r>
          </a:p>
          <a:p/>
          <a:p>
            <a:r>
              <a:t>2. Confira as assinaturas: Antes de guardar a cópia, verifique se o relatório é o desejado e se contém os registros esperados.</a:t>
            </a:r>
          </a:p>
          <a:p/>
          <a:p>
            <a:r>
              <a:t>Na janela do navegador, escolha Salvar como PDF (ou opção equivalente), indique a pasta e confirme Salvar.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Clique no sino, no cabeçalho do aplicativo, para abrir os avisos.</a:t>
            </a:r>
          </a:p>
          <a:p/>
          <a:p>
            <a:r>
              <a:t>1. Leia e abra o aviso: Confira a mensagem e clique em Abrir para ir à área relacionada à notificação.</a:t>
            </a:r>
          </a:p>
          <a:p/>
          <a:p>
            <a:r>
              <a:t>2. Concluir a notificação: Use Concluir quando tiver tratado aquele aviso. Esse botão conclui o aviso, não substitui as ações do empréstimo.</a:t>
            </a:r>
          </a:p>
          <a:p/>
          <a:p>
            <a:r>
              <a:t>Marcar um aviso como concluído não assina relatórios, não devolve aparelhos e não cancela agendamentos.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Depois de entrar, clique em Conta no cabeçalho.</a:t>
            </a:r>
          </a:p>
          <a:p/>
          <a:p>
            <a:r>
              <a:t>1. Senha atual: Digite a senha que você está usando para entrar no App Monitor.</a:t>
            </a:r>
          </a:p>
          <a:p/>
          <a:p>
            <a:r>
              <a:t>2. Nova senha: Escolha outra senha com pelo menos 12 caracteres. Confira a digitação antes de salvar.</a:t>
            </a:r>
          </a:p>
          <a:p/>
          <a:p>
            <a:r>
              <a:t>3. Salvar senha: Clique em Salvar senha. Passe a usar a nova senha nos próximos acessos.</a:t>
            </a:r>
          </a:p>
          <a:p/>
          <a:p>
            <a:r>
              <a:t>Se não souber a senha atual e não conseguir entrar, peça ao administrador uma nova senha provisória.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Abra o mesmo endereço no navegador e entre com sua própria conta.</a:t>
            </a:r>
          </a:p>
          <a:p/>
          <a:p>
            <a:r>
              <a:t>1. Acompanhe os pedidos: Use Agendamentos para consultar as solicitações mesmo estando fora do computador.</a:t>
            </a:r>
          </a:p>
          <a:p/>
          <a:p>
            <a:r>
              <a:t>2. Acesse os empréstimos: Em Meus dispositivos, você pode preencher os alunos e registrar a devolução.</a:t>
            </a:r>
          </a:p>
          <a:p/>
          <a:p>
            <a:r>
              <a:t>3. Saia ao terminar: Em um aparelho compartilhado, clique em Sair para encerrar sua sessão.</a:t>
            </a:r>
          </a:p>
          <a:p/>
          <a:p>
            <a:r>
              <a:t>Se desejar, use a opção do navegador para adicionar um atalho à tela inicial. As funções continuam disponíveis pelo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fazer outro cadastro ou repetir uma ação, confira estas orientações.</a:t>
            </a:r>
          </a:p>
          <a:p/>
          <a:p>
            <a:r>
              <a:t>1. Não consigo entrar: Revise o e-mail e a senha. Se esqueceu a senha, peça a redefinição ao administrador. Se a conta estiver desativada, procure a escola.</a:t>
            </a:r>
          </a:p>
          <a:p/>
          <a:p>
            <a:r>
              <a:t>2. O site demora a abrir: A primeira conexão pode demorar enquanto o servidor gratuito é ativado. Aguarde a conexão e siga a orientação de tentar novamente, se aparecer.</a:t>
            </a:r>
          </a:p>
          <a:p/>
          <a:p>
            <a:r>
              <a:t>3. Não consigo devolver ou pedir novamente: Preencha todos os alunos e o relato para devolver. Para novos pedidos, verifique se existe relatório pendente da sua assinatura.</a:t>
            </a:r>
          </a:p>
          <a:p/>
          <a:p>
            <a:r>
              <a:t>4. Há erro no pedido ou problema com um aparelho: Antes da liberação, use Editar quando disponível. Durante o uso, comunique a equipe e registre a ocorrência no relato.</a:t>
            </a:r>
          </a:p>
          <a:p/>
          <a:p>
            <a:r>
              <a:t>Ao pedir ajuda, informe a turma, a data e a mensagem exibida. Nunca envie sua senha.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esta página como lembrete antes, durante e depois da aula.</a:t>
            </a:r>
          </a:p>
          <a:p/>
          <a:p>
            <a:r>
              <a:t>1. Antes da aula: Entrar na própria conta → registrar o pedido → acompanhar a aprovação → combinar a retirada.</a:t>
            </a:r>
          </a:p>
          <a:p/>
          <a:p>
            <a:r>
              <a:t>2. Durante a aula: Conferir os aparelhos recebidos → preencher e salvar os alunos → comunicar problemas e solicitar extras, se necessário.</a:t>
            </a:r>
          </a:p>
          <a:p/>
          <a:p>
            <a:r>
              <a:t>3. Ao terminar: Conferir e entregar os aparelhos → escrever o relato → enviar a devolução → aguardar a conferência.</a:t>
            </a:r>
          </a:p>
          <a:p/>
          <a:p>
            <a:r>
              <a:t>4. Para concluir: Ler o relatório → assinar → consultar o Histórico e salvar o PDF quando precisar.</a:t>
            </a:r>
          </a:p>
          <a:p/>
          <a:p>
            <a:r>
              <a:t>Acesse: https://app-monitor-interface.onrender.com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app-monitor-interface.onrender.com" TargetMode="Externa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app-monitor-interface.onrender.com" TargetMode="Externa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pp-monitor-interface.onrender.com" TargetMode="Externa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5" cy="106920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5" cy="88900"/>
          </a:xfrm>
          <a:prstGeom prst="rect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0" y="304800"/>
            <a:ext cx="393700" cy="342900"/>
          </a:xfrm>
          <a:prstGeom prst="rect">
            <a:avLst/>
          </a:prstGeom>
          <a:solidFill>
            <a:srgbClr val="10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" y="355600"/>
            <a:ext cx="330200" cy="24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368300"/>
            <a:ext cx="5334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APP MONITOR / MANUAL DO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850900"/>
            <a:ext cx="6671005" cy="447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142843"/>
                </a:solidFill>
                <a:latin typeface="DejaVu Sans"/>
              </a:defRPr>
            </a:pPr>
            <a:r>
              <a:t>Manual do professor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1336040"/>
            <a:ext cx="6671005" cy="237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9"/>
              </a:lnSpc>
              <a:spcAft>
                <a:spcPts val="0"/>
              </a:spcAft>
              <a:defRPr sz="1130" b="0">
                <a:solidFill>
                  <a:srgbClr val="506078"/>
                </a:solidFill>
                <a:latin typeface="DejaVu Sans"/>
              </a:defRPr>
            </a:pPr>
            <a:r>
              <a:t>APP Monitor • Guia ilustrado para aprender e consultar durante o uso.</a:t>
            </a:r>
          </a:p>
        </p:txBody>
      </p:sp>
      <p:pic>
        <p:nvPicPr>
          <p:cNvPr id="9" name="Picture 8" descr="10-painel-profes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52" y="2171876"/>
            <a:ext cx="5778500" cy="40128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6502400"/>
            <a:ext cx="6417005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506078"/>
                </a:solidFill>
                <a:latin typeface="DejaVu Sans"/>
              </a:defRPr>
            </a:pPr>
            <a:r>
              <a:t>As setas numeradas correspondem às explicações abaixo.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684530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85800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6858000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Organize a aula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7125081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Aprenda a solicitar os aparelhos, acompanhar o pedido e registrar a utilização pela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turma.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7679817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7692517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" y="7692517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Complete o empréstimo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7959598"/>
            <a:ext cx="6251905" cy="2456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Veja como devolver os dispositivos e assinar o relatório depois da conferência.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8319516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8332216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" y="8332216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Siga as setas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" y="8599297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Os números nas imagens indicam os campos e botões explicados na mesma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página.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4500" y="9512300"/>
            <a:ext cx="6671005" cy="69850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6900" y="9626600"/>
            <a:ext cx="6366205" cy="384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rPr>
                <a:hlinkClick r:id="rId3"/>
              </a:rPr>
              <a:t>As telas usam pessoas e aparelhos fictícios. Endereço do app:</a:t>
            </a:r>
          </a:p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rPr>
                <a:hlinkClick r:id="rId3"/>
              </a:rPr>
              <a:t>app-monitor-interface.onrender.com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500" y="10401300"/>
            <a:ext cx="635350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506078"/>
                </a:solidFill>
                <a:latin typeface="DejaVu Sans"/>
              </a:defRPr>
            </a:pPr>
            <a:r>
              <a:t>Telas e dados de demonstração • Outubro de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1805" y="10375900"/>
            <a:ext cx="508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01/28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5" cy="106920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5" cy="88900"/>
          </a:xfrm>
          <a:prstGeom prst="rect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0" y="304800"/>
            <a:ext cx="393700" cy="342900"/>
          </a:xfrm>
          <a:prstGeom prst="rect">
            <a:avLst/>
          </a:prstGeom>
          <a:solidFill>
            <a:srgbClr val="10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" y="355600"/>
            <a:ext cx="330200" cy="24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368300"/>
            <a:ext cx="5334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APP MONITOR / MANUAL DO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850900"/>
            <a:ext cx="6671005" cy="447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142843"/>
                </a:solidFill>
                <a:latin typeface="DejaVu Sans"/>
              </a:defRPr>
            </a:pPr>
            <a:r>
              <a:t>Como consultar este manual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1336040"/>
            <a:ext cx="6671005" cy="237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9"/>
              </a:lnSpc>
              <a:spcAft>
                <a:spcPts val="0"/>
              </a:spcAft>
              <a:defRPr sz="1130" b="0">
                <a:solidFill>
                  <a:srgbClr val="506078"/>
                </a:solidFill>
                <a:latin typeface="DejaVu Sans"/>
              </a:defRPr>
            </a:pPr>
            <a:r>
              <a:t>Você pode ler na sequência ou ir direto à tarefa de que precisa.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42570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3840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438400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Primeiro acesso · páginas 3 a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2705481"/>
            <a:ext cx="6251905" cy="2456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Entrar, criar a conta de professor e trocar uma senha provisória.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065399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078099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3078099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Preparar a aula · páginas 8 a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3345179"/>
            <a:ext cx="6251905" cy="2456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Conhecer o painel, solicitar os aparelhos e acompanhar a aprovação.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3705098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17798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3717798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Usar e devolver · páginas 13 a 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" y="3984879"/>
            <a:ext cx="6251905" cy="2456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Retirar, associar alunos, pedir extras, devolver, conferir e assinar.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4344797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357497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800" y="4357497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Consultar e resolver · páginas 22 a 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800" y="4624578"/>
            <a:ext cx="6251905" cy="2456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Histórico, PDF, notificações, senha, celular e respostas às dúvidas mais comuns.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4500" y="9512300"/>
            <a:ext cx="6671005" cy="69850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6900" y="9626600"/>
            <a:ext cx="6366205" cy="2175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Nos exemplos, TAB-001 identifica um aparelho fictício. Use os dados da sua própria aula.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500" y="10401300"/>
            <a:ext cx="635350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506078"/>
                </a:solidFill>
                <a:latin typeface="DejaVu Sans"/>
              </a:defRPr>
            </a:pPr>
            <a:r>
              <a:t>Telas e dados de demonstração • Outubro de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1805" y="10375900"/>
            <a:ext cx="508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02/28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5" cy="106920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5" cy="88900"/>
          </a:xfrm>
          <a:prstGeom prst="rect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0" y="304800"/>
            <a:ext cx="393700" cy="342900"/>
          </a:xfrm>
          <a:prstGeom prst="rect">
            <a:avLst/>
          </a:prstGeom>
          <a:solidFill>
            <a:srgbClr val="10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" y="355600"/>
            <a:ext cx="330200" cy="24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368300"/>
            <a:ext cx="5334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APP MONITOR / MANUAL DO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850900"/>
            <a:ext cx="6671005" cy="447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142843"/>
                </a:solidFill>
                <a:latin typeface="DejaVu Sans"/>
              </a:defRPr>
            </a:pPr>
            <a:r>
              <a:t>Entrar com sua conta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1336040"/>
            <a:ext cx="6671005" cy="237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9"/>
              </a:lnSpc>
              <a:spcAft>
                <a:spcPts val="0"/>
              </a:spcAft>
              <a:defRPr sz="1130" b="0">
                <a:solidFill>
                  <a:srgbClr val="506078"/>
                </a:solidFill>
                <a:latin typeface="DejaVu Sans"/>
              </a:defRPr>
            </a:pPr>
            <a:r>
              <a:rPr>
                <a:hlinkClick r:id="rId3"/>
              </a:rPr>
              <a:t>Abra https://app-monitor-interface.onrender.com no navegador.</a:t>
            </a:r>
          </a:p>
        </p:txBody>
      </p:sp>
      <p:pic>
        <p:nvPicPr>
          <p:cNvPr id="9" name="Picture 8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314" y="2019300"/>
            <a:ext cx="3193376" cy="431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385820" y="3515466"/>
            <a:ext cx="2788364" cy="317438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76914" y="3559885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6914" y="3572585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18214" y="3674185"/>
            <a:ext cx="342206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385820" y="4106496"/>
            <a:ext cx="2788364" cy="317438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76914" y="4150916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76914" y="4163616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018214" y="4265216"/>
            <a:ext cx="342206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385820" y="4551508"/>
            <a:ext cx="2788364" cy="289625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776914" y="458202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6914" y="459472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018214" y="4696320"/>
            <a:ext cx="342206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71500" y="6502400"/>
            <a:ext cx="6417005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506078"/>
                </a:solidFill>
                <a:latin typeface="DejaVu Sans"/>
              </a:defRPr>
            </a:pPr>
            <a:r>
              <a:t>As setas numeradas correspondem às explicações abaixo.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684530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85800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6858000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Digite seu e-mail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7125081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Use o e-mail informado no cadastro. Confira se não há espaços extras ou erro de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digitação.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7679817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7692517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800" y="7692517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Digite sua senha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800" y="7959598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Use a senha da sua conta do App Monitor. Se a escola lhe entregou uma senha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provisória, use-a neste primeiro acesso.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8514334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8527034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800" y="8527034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Clique em Entrar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8794115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Depois de entrar, confira se o seu nome aparece no cabeçalho e se o perfil está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como Professor.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500" y="9512300"/>
            <a:ext cx="6671005" cy="69850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6900" y="9626600"/>
            <a:ext cx="6366205" cy="384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Esqueceu a senha? Solicite a redefinição ao administrador da escola. Não crie outra conta para</a:t>
            </a:r>
          </a:p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resolver isso.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4500" y="10401300"/>
            <a:ext cx="635350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506078"/>
                </a:solidFill>
                <a:latin typeface="DejaVu Sans"/>
              </a:defRPr>
            </a:pPr>
            <a:r>
              <a:t>Telas e dados de demonstração • Outubro de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1805" y="10375900"/>
            <a:ext cx="508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03/28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5" cy="106920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5" cy="88900"/>
          </a:xfrm>
          <a:prstGeom prst="rect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0" y="304800"/>
            <a:ext cx="393700" cy="342900"/>
          </a:xfrm>
          <a:prstGeom prst="rect">
            <a:avLst/>
          </a:prstGeom>
          <a:solidFill>
            <a:srgbClr val="10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" y="355600"/>
            <a:ext cx="330200" cy="24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368300"/>
            <a:ext cx="5334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APP MONITOR / MANUAL DO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850900"/>
            <a:ext cx="6671005" cy="447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142843"/>
                </a:solidFill>
                <a:latin typeface="DejaVu Sans"/>
              </a:defRPr>
            </a:pPr>
            <a:r>
              <a:t>Ainda não tem uma conta?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1336040"/>
            <a:ext cx="6671005" cy="237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9"/>
              </a:lnSpc>
              <a:spcAft>
                <a:spcPts val="0"/>
              </a:spcAft>
              <a:defRPr sz="1130" b="0">
                <a:solidFill>
                  <a:srgbClr val="506078"/>
                </a:solidFill>
                <a:latin typeface="DejaVu Sans"/>
              </a:defRPr>
            </a:pPr>
            <a:r>
              <a:t>O cadastro público está disponível somente para professores.</a:t>
            </a:r>
          </a:p>
        </p:txBody>
      </p:sp>
      <p:pic>
        <p:nvPicPr>
          <p:cNvPr id="9" name="Picture 8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314" y="2019300"/>
            <a:ext cx="3193376" cy="431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385820" y="4926986"/>
            <a:ext cx="2085366" cy="303532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76914" y="4964452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6914" y="4977152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18214" y="5078752"/>
            <a:ext cx="342206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385820" y="4551508"/>
            <a:ext cx="2788364" cy="289625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76914" y="458202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76914" y="459472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018214" y="4696320"/>
            <a:ext cx="342206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1500" y="6502400"/>
            <a:ext cx="6417005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506078"/>
                </a:solidFill>
                <a:latin typeface="DejaVu Sans"/>
              </a:defRPr>
            </a:pPr>
            <a:r>
              <a:t>As setas numeradas correspondem às explicações abaixo.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684530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85800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" y="6858000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Abra o cadastro de professor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" y="7125081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Na tela de entrada, clique em Sou professor — criar minha conta. O aplicativo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abrirá um formulário.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7679817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7692517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7692517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Já tem uma conta criada pela escola?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7959598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Nesse caso, preencha o e-mail e a senha recebidos e use Entrar. Não é necessário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se cadastrar novamente.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4500" y="9512300"/>
            <a:ext cx="6671005" cy="69850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6900" y="9626600"/>
            <a:ext cx="6366205" cy="2175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Se aparecer que o e-mail já está cadastrado, procure o administrador para recuperar o acesso.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500" y="10401300"/>
            <a:ext cx="635350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506078"/>
                </a:solidFill>
                <a:latin typeface="DejaVu Sans"/>
              </a:defRPr>
            </a:pPr>
            <a:r>
              <a:t>Telas e dados de demonstração • Outubro de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1805" y="10375900"/>
            <a:ext cx="508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04/28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5" cy="106920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5" cy="88900"/>
          </a:xfrm>
          <a:prstGeom prst="rect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0" y="304800"/>
            <a:ext cx="393700" cy="342900"/>
          </a:xfrm>
          <a:prstGeom prst="rect">
            <a:avLst/>
          </a:prstGeom>
          <a:solidFill>
            <a:srgbClr val="10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" y="355600"/>
            <a:ext cx="330200" cy="24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368300"/>
            <a:ext cx="5334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APP MONITOR / MANUAL DO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850900"/>
            <a:ext cx="6671005" cy="447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142843"/>
                </a:solidFill>
                <a:latin typeface="DejaVu Sans"/>
              </a:defRPr>
            </a:pPr>
            <a:r>
              <a:t>Cadastro: informe seus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1336040"/>
            <a:ext cx="6671005" cy="237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9"/>
              </a:lnSpc>
              <a:spcAft>
                <a:spcPts val="0"/>
              </a:spcAft>
              <a:defRPr sz="1130" b="0">
                <a:solidFill>
                  <a:srgbClr val="506078"/>
                </a:solidFill>
                <a:latin typeface="DejaVu Sans"/>
              </a:defRPr>
            </a:pPr>
            <a:r>
              <a:t>Use informações que permitam à escola identificar você.</a:t>
            </a:r>
          </a:p>
        </p:txBody>
      </p:sp>
      <p:pic>
        <p:nvPicPr>
          <p:cNvPr id="9" name="Picture 8" descr="02-cadastro-profes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253" y="2019300"/>
            <a:ext cx="2713497" cy="431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593420" y="3394739"/>
            <a:ext cx="2373165" cy="273493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16853" y="3417186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6853" y="3429886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58153" y="3531486"/>
            <a:ext cx="309867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593420" y="3896832"/>
            <a:ext cx="2373165" cy="273493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16853" y="3919279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6853" y="3931979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58153" y="4033579"/>
            <a:ext cx="309867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1500" y="6502400"/>
            <a:ext cx="6417005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506078"/>
                </a:solidFill>
                <a:latin typeface="DejaVu Sans"/>
              </a:defRPr>
            </a:pPr>
            <a:r>
              <a:t>As setas numeradas correspondem às explicações abaixo.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684530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85800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" y="6858000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Nome completo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" y="7125081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Digite seu nome inteiro, com nome e sobrenomes. Evite colocar somente o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primeiro nome ou um apelido.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7679817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7692517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7692517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E-mail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7959598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Informe o endereço que você utilizará para entrar no app. Leia novamente antes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de continuar: um erro aqui pode dificultar o acesso.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4500" y="9512300"/>
            <a:ext cx="6671005" cy="69850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6900" y="9626600"/>
            <a:ext cx="6366205" cy="2175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Exemplo fictício: Professora Ana Silva. Cada professor deve utilizar sua própria conta.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500" y="10401300"/>
            <a:ext cx="635350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506078"/>
                </a:solidFill>
                <a:latin typeface="DejaVu Sans"/>
              </a:defRPr>
            </a:pPr>
            <a:r>
              <a:t>Telas e dados de demonstração • Outubro de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1805" y="10375900"/>
            <a:ext cx="508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05/28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5" cy="106920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5" cy="88900"/>
          </a:xfrm>
          <a:prstGeom prst="rect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0" y="304800"/>
            <a:ext cx="393700" cy="342900"/>
          </a:xfrm>
          <a:prstGeom prst="rect">
            <a:avLst/>
          </a:prstGeom>
          <a:solidFill>
            <a:srgbClr val="10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" y="355600"/>
            <a:ext cx="330200" cy="24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368300"/>
            <a:ext cx="5334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APP MONITOR / MANUAL DO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850900"/>
            <a:ext cx="6671005" cy="447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142843"/>
                </a:solidFill>
                <a:latin typeface="DejaVu Sans"/>
              </a:defRPr>
            </a:pPr>
            <a:r>
              <a:t>Cadastro: crie sua senha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1336040"/>
            <a:ext cx="6671005" cy="237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9"/>
              </a:lnSpc>
              <a:spcAft>
                <a:spcPts val="0"/>
              </a:spcAft>
              <a:defRPr sz="1130" b="0">
                <a:solidFill>
                  <a:srgbClr val="506078"/>
                </a:solidFill>
                <a:latin typeface="DejaVu Sans"/>
              </a:defRPr>
            </a:pPr>
            <a:r>
              <a:t>Conclua o formulário depois de preencher nome completo e e-mail.</a:t>
            </a:r>
          </a:p>
        </p:txBody>
      </p:sp>
      <p:pic>
        <p:nvPicPr>
          <p:cNvPr id="9" name="Picture 8" descr="02-cadastro-profes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253" y="2019300"/>
            <a:ext cx="2713497" cy="431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593420" y="4398925"/>
            <a:ext cx="2373165" cy="273493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16853" y="4421372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6853" y="4434072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58153" y="4535672"/>
            <a:ext cx="309867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593420" y="4901018"/>
            <a:ext cx="2373165" cy="273493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16853" y="4923465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6853" y="4936165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58153" y="5037765"/>
            <a:ext cx="309867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593420" y="5279065"/>
            <a:ext cx="2373165" cy="249865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16853" y="5289697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6853" y="5302397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58153" y="5403997"/>
            <a:ext cx="309867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71500" y="6502400"/>
            <a:ext cx="6417005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506078"/>
                </a:solidFill>
                <a:latin typeface="DejaVu Sans"/>
              </a:defRPr>
            </a:pPr>
            <a:r>
              <a:t>As setas numeradas correspondem às explicações abaixo.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684530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85800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6858000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Escolha uma senha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7125081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Digite uma senha com pelo menos 12 caracteres. Use uma senha que consiga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guardar com segurança.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7679817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7692517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800" y="7692517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Repita a mesma senha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800" y="7959598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Digite novamente, exatamente como no campo anterior. Os dois valores precisam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coincidir.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8514334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8527034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800" y="8527034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Crie a conta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8794115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Clique em Criar conta de professor. Quando o cadastro for concluído, o aplicativo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abrirá a área do professor.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500" y="9512300"/>
            <a:ext cx="6671005" cy="69850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6900" y="9626600"/>
            <a:ext cx="6366205" cy="384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O perfil criado aqui é Professor. O administrador da escola poderá consultar e gerenciar esse</a:t>
            </a:r>
          </a:p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cadastro.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4500" y="10401300"/>
            <a:ext cx="635350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506078"/>
                </a:solidFill>
                <a:latin typeface="DejaVu Sans"/>
              </a:defRPr>
            </a:pPr>
            <a:r>
              <a:t>Telas e dados de demonstração • Outubro de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1805" y="10375900"/>
            <a:ext cx="508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06/28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5" cy="106920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5" cy="88900"/>
          </a:xfrm>
          <a:prstGeom prst="rect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0" y="304800"/>
            <a:ext cx="393700" cy="342900"/>
          </a:xfrm>
          <a:prstGeom prst="rect">
            <a:avLst/>
          </a:prstGeom>
          <a:solidFill>
            <a:srgbClr val="10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" y="355600"/>
            <a:ext cx="330200" cy="24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368300"/>
            <a:ext cx="5334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APP MONITOR / MANUAL DO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850900"/>
            <a:ext cx="6671005" cy="447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142843"/>
                </a:solidFill>
                <a:latin typeface="DejaVu Sans"/>
              </a:defRPr>
            </a:pPr>
            <a:r>
              <a:t>Se recebeu uma senha provisória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1336040"/>
            <a:ext cx="6671005" cy="237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9"/>
              </a:lnSpc>
              <a:spcAft>
                <a:spcPts val="0"/>
              </a:spcAft>
              <a:defRPr sz="1130" b="0">
                <a:solidFill>
                  <a:srgbClr val="506078"/>
                </a:solidFill>
                <a:latin typeface="DejaVu Sans"/>
              </a:defRPr>
            </a:pPr>
            <a:r>
              <a:t>Esta tela aparece quando a escola criou ou redefiniu sua conta.</a:t>
            </a:r>
          </a:p>
        </p:txBody>
      </p:sp>
      <p:pic>
        <p:nvPicPr>
          <p:cNvPr id="9" name="Picture 8" descr="09-primeira-sen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233" y="2019300"/>
            <a:ext cx="3321538" cy="431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330376" y="3703472"/>
            <a:ext cx="2899252" cy="328670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12833" y="3753508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12833" y="3766208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54133" y="3867808"/>
            <a:ext cx="350843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330376" y="4317235"/>
            <a:ext cx="2899252" cy="328670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12833" y="436727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12833" y="437997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54133" y="4481570"/>
            <a:ext cx="350843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330376" y="5393125"/>
            <a:ext cx="2899252" cy="299787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712833" y="5428719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12833" y="5441419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954133" y="5543019"/>
            <a:ext cx="350843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71500" y="6502400"/>
            <a:ext cx="6417005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506078"/>
                </a:solidFill>
                <a:latin typeface="DejaVu Sans"/>
              </a:defRPr>
            </a:pPr>
            <a:r>
              <a:t>As setas numeradas correspondem às explicações abaixo.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684530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85800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6858000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Informe a senha recebida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7125081"/>
            <a:ext cx="6251905" cy="2456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Em Senha provisória, digite a senha que o administrador lhe entregou.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7484999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7497699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800" y="7497699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Defina sua nova senha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800" y="7764780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Crie uma senha de pelo menos 12 caracteres. No campo seguinte, confirme a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mesma senha.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8319516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8332216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800" y="8332216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Salve para continuar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8599297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Clique em Salvar minha senha. A troca precisa ser concluída antes de usar as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funções do aplicativo.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500" y="9512300"/>
            <a:ext cx="6671005" cy="69850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6900" y="9626600"/>
            <a:ext cx="6366205" cy="384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Depois da troca, use a nova senha nos próximos acessos. A senha provisória deixa de ser a sua</a:t>
            </a:r>
          </a:p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senha de entrada.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4500" y="10401300"/>
            <a:ext cx="635350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506078"/>
                </a:solidFill>
                <a:latin typeface="DejaVu Sans"/>
              </a:defRPr>
            </a:pPr>
            <a:r>
              <a:t>Telas e dados de demonstração • Outubro de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1805" y="10375900"/>
            <a:ext cx="508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07/28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5" cy="106920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5" cy="88900"/>
          </a:xfrm>
          <a:prstGeom prst="rect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0" y="304800"/>
            <a:ext cx="393700" cy="342900"/>
          </a:xfrm>
          <a:prstGeom prst="rect">
            <a:avLst/>
          </a:prstGeom>
          <a:solidFill>
            <a:srgbClr val="10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" y="355600"/>
            <a:ext cx="330200" cy="24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368300"/>
            <a:ext cx="5334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APP MONITOR / MANUAL DO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850900"/>
            <a:ext cx="6671005" cy="447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142843"/>
                </a:solidFill>
                <a:latin typeface="DejaVu Sans"/>
              </a:defRPr>
            </a:pPr>
            <a:r>
              <a:t>Conheça a tela inicial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1336040"/>
            <a:ext cx="6671005" cy="237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9"/>
              </a:lnSpc>
              <a:spcAft>
                <a:spcPts val="0"/>
              </a:spcAft>
              <a:defRPr sz="1130" b="0">
                <a:solidFill>
                  <a:srgbClr val="506078"/>
                </a:solidFill>
                <a:latin typeface="DejaVu Sans"/>
              </a:defRPr>
            </a:pPr>
            <a:r>
              <a:t>A Visão geral reúne seus pedidos e suas movimentações.</a:t>
            </a:r>
          </a:p>
        </p:txBody>
      </p:sp>
      <p:pic>
        <p:nvPicPr>
          <p:cNvPr id="9" name="Picture 8" descr="10-painel-profes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52" y="2171876"/>
            <a:ext cx="5778500" cy="401284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42258" y="2733013"/>
            <a:ext cx="900200" cy="197952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4352" y="2717689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352" y="2730389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5652" y="2831989"/>
            <a:ext cx="191206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2258" y="2929643"/>
            <a:ext cx="900200" cy="197952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4352" y="3035189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352" y="3047889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25652" y="3028619"/>
            <a:ext cx="191206" cy="12087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536090" y="2231407"/>
            <a:ext cx="209865" cy="181901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47052" y="2208058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47052" y="2220758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5771355" y="2322358"/>
            <a:ext cx="1062997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71500" y="6502400"/>
            <a:ext cx="6417005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506078"/>
                </a:solidFill>
                <a:latin typeface="DejaVu Sans"/>
              </a:defRPr>
            </a:pPr>
            <a:r>
              <a:t>As setas numeradas correspondem às explicações abaixo.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684530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85800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6858000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Agendamentos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7125081"/>
            <a:ext cx="6251905" cy="2456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Use este menu para acompanhar os pedidos de aparelhos feitos para suas aulas.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7484999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7497699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800" y="7497699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Meus dispositivos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800" y="7764780"/>
            <a:ext cx="6251905" cy="2456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Abra este menu para ver os aparelhos que a equipe já liberou para você.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8124698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8137398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800" y="8137398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Notificações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8404479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O sino reúne avisos do aplicativo. Consulte-o para acompanhar mudanças e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pendências.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500" y="9512300"/>
            <a:ext cx="6671005" cy="69850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6900" y="9626600"/>
            <a:ext cx="6366205" cy="384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Sua conta de professor acompanha os seus próprios registros. Inventário e gestão de usuários são</a:t>
            </a:r>
          </a:p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funções da equipe.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4500" y="10401300"/>
            <a:ext cx="635350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506078"/>
                </a:solidFill>
                <a:latin typeface="DejaVu Sans"/>
              </a:defRPr>
            </a:pPr>
            <a:r>
              <a:t>Telas e dados de demonstração • Outubro de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1805" y="10375900"/>
            <a:ext cx="508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08/28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5" cy="106920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5" cy="88900"/>
          </a:xfrm>
          <a:prstGeom prst="rect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0" y="304800"/>
            <a:ext cx="393700" cy="342900"/>
          </a:xfrm>
          <a:prstGeom prst="rect">
            <a:avLst/>
          </a:prstGeom>
          <a:solidFill>
            <a:srgbClr val="10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" y="355600"/>
            <a:ext cx="330200" cy="24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368300"/>
            <a:ext cx="5334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APP MONITOR / MANUAL DO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850900"/>
            <a:ext cx="6671005" cy="447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142843"/>
                </a:solidFill>
                <a:latin typeface="DejaVu Sans"/>
              </a:defRPr>
            </a:pPr>
            <a:r>
              <a:t>Comece um novo pedido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1336040"/>
            <a:ext cx="6671005" cy="237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9"/>
              </a:lnSpc>
              <a:spcAft>
                <a:spcPts val="0"/>
              </a:spcAft>
              <a:defRPr sz="1130" b="0">
                <a:solidFill>
                  <a:srgbClr val="506078"/>
                </a:solidFill>
                <a:latin typeface="DejaVu Sans"/>
              </a:defRPr>
            </a:pPr>
            <a:r>
              <a:t>Tenha em mãos a data, o horário, a turma e a quantidade necessária.</a:t>
            </a:r>
          </a:p>
        </p:txBody>
      </p:sp>
      <p:pic>
        <p:nvPicPr>
          <p:cNvPr id="9" name="Picture 8" descr="10-painel-profes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52" y="2171876"/>
            <a:ext cx="5778500" cy="401284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753975" y="2576512"/>
            <a:ext cx="815617" cy="201965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47052" y="2563195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7052" y="2575895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6594992" y="2677495"/>
            <a:ext cx="239360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2258" y="2733013"/>
            <a:ext cx="900200" cy="197952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4352" y="2717689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352" y="2730389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5652" y="2831989"/>
            <a:ext cx="191206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1500" y="6502400"/>
            <a:ext cx="6417005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506078"/>
                </a:solidFill>
                <a:latin typeface="DejaVu Sans"/>
              </a:defRPr>
            </a:pPr>
            <a:r>
              <a:t>As setas numeradas correspondem às explicações abaixo.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684530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85800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" y="6858000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Clique em Novo agendamento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" y="7125081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Na Visão geral, use o botão + Novo agendamento. Ele abre o formulário do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pedido.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7679817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7692517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7692517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Também acompanhe pelo menu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7959598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O menu Agendamentos permite consultar os pedidos já registrados e iniciar um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novo quando necessário.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4500" y="9512300"/>
            <a:ext cx="6671005" cy="69850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6900" y="9626600"/>
            <a:ext cx="6366205" cy="384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Criar o pedido ainda não significa que os aparelhos foram entregues: ele seguirá para aprovação</a:t>
            </a:r>
          </a:p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da equipe.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500" y="10401300"/>
            <a:ext cx="635350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506078"/>
                </a:solidFill>
                <a:latin typeface="DejaVu Sans"/>
              </a:defRPr>
            </a:pPr>
            <a:r>
              <a:t>Telas e dados de demonstração • Outubro de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1805" y="10375900"/>
            <a:ext cx="508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09/28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5" cy="106920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5" cy="88900"/>
          </a:xfrm>
          <a:prstGeom prst="rect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0" y="304800"/>
            <a:ext cx="393700" cy="342900"/>
          </a:xfrm>
          <a:prstGeom prst="rect">
            <a:avLst/>
          </a:prstGeom>
          <a:solidFill>
            <a:srgbClr val="10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" y="355600"/>
            <a:ext cx="330200" cy="24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368300"/>
            <a:ext cx="5334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APP MONITOR / MANUAL DO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850900"/>
            <a:ext cx="6671005" cy="447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142843"/>
                </a:solidFill>
                <a:latin typeface="DejaVu Sans"/>
              </a:defRPr>
            </a:pPr>
            <a:r>
              <a:t>Preencha data, horário e turma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1336040"/>
            <a:ext cx="6671005" cy="237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9"/>
              </a:lnSpc>
              <a:spcAft>
                <a:spcPts val="0"/>
              </a:spcAft>
              <a:defRPr sz="1130" b="0">
                <a:solidFill>
                  <a:srgbClr val="506078"/>
                </a:solidFill>
                <a:latin typeface="DejaVu Sans"/>
              </a:defRPr>
            </a:pPr>
            <a:r>
              <a:t>No formulário aberto, identifique a aula que usará os aparelhos.</a:t>
            </a:r>
          </a:p>
        </p:txBody>
      </p:sp>
      <p:pic>
        <p:nvPicPr>
          <p:cNvPr id="9" name="Picture 8" descr="11-novo-agenda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52" y="3148676"/>
            <a:ext cx="5778500" cy="205924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93622" y="3849813"/>
            <a:ext cx="1364961" cy="256825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4352" y="3863926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352" y="3876626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5652" y="3978226"/>
            <a:ext cx="242570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396222" y="3849813"/>
            <a:ext cx="1364961" cy="271536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4352" y="4181426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352" y="4194126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25652" y="3985582"/>
            <a:ext cx="1645170" cy="310144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798821" y="3849813"/>
            <a:ext cx="1364961" cy="246306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47052" y="3858666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47052" y="3871366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5189183" y="3972966"/>
            <a:ext cx="1645169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71500" y="6502400"/>
            <a:ext cx="6417005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506078"/>
                </a:solidFill>
                <a:latin typeface="DejaVu Sans"/>
              </a:defRPr>
            </a:pPr>
            <a:r>
              <a:t>As setas numeradas correspondem às explicações abaixo.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684530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85800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6858000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Data da aula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7125081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Escolha a data correta. O aplicativo permite agendar entre hoje e os próximos 14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dias.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7679817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7692517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800" y="7692517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Horário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800" y="7959598"/>
            <a:ext cx="6251905" cy="2456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Informe o horário previsto para a utilização dos equipamentos.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8319516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8332216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800" y="8332216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Turma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8599297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Digite a identificação da turma. Exemplo: 8º Ano B. Use o padrão de identificação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adotado pela escola.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500" y="9512300"/>
            <a:ext cx="6671005" cy="69850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6900" y="9626600"/>
            <a:ext cx="6366205" cy="384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Confira esses três campos antes de salvar, principalmente quando fizer pedidos para mais de uma</a:t>
            </a:r>
          </a:p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turma.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4500" y="10401300"/>
            <a:ext cx="635350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506078"/>
                </a:solidFill>
                <a:latin typeface="DejaVu Sans"/>
              </a:defRPr>
            </a:pPr>
            <a:r>
              <a:t>Telas e dados de demonstração • Outubro de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1805" y="10375900"/>
            <a:ext cx="508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10/28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5" cy="106920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5" cy="88900"/>
          </a:xfrm>
          <a:prstGeom prst="rect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0" y="304800"/>
            <a:ext cx="393700" cy="342900"/>
          </a:xfrm>
          <a:prstGeom prst="rect">
            <a:avLst/>
          </a:prstGeom>
          <a:solidFill>
            <a:srgbClr val="10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" y="355600"/>
            <a:ext cx="330200" cy="24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368300"/>
            <a:ext cx="5334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APP MONITOR / MANUAL DO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850900"/>
            <a:ext cx="6671005" cy="447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142843"/>
                </a:solidFill>
                <a:latin typeface="DejaVu Sans"/>
              </a:defRPr>
            </a:pPr>
            <a:r>
              <a:t>Escolha os aparelhos e salve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1336040"/>
            <a:ext cx="6671005" cy="237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9"/>
              </a:lnSpc>
              <a:spcAft>
                <a:spcPts val="0"/>
              </a:spcAft>
              <a:defRPr sz="1130" b="0">
                <a:solidFill>
                  <a:srgbClr val="506078"/>
                </a:solidFill>
                <a:latin typeface="DejaVu Sans"/>
              </a:defRPr>
            </a:pPr>
            <a:r>
              <a:t>O pedido usa o tipo do equipamento, não o modelo ou fabricante.</a:t>
            </a:r>
          </a:p>
        </p:txBody>
      </p:sp>
      <p:pic>
        <p:nvPicPr>
          <p:cNvPr id="9" name="Picture 8" descr="11-novo-agenda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52" y="3148676"/>
            <a:ext cx="5778500" cy="205924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201421" y="3849813"/>
            <a:ext cx="1364961" cy="251566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47052" y="3861296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7052" y="3873996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6591782" y="3975596"/>
            <a:ext cx="242570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93622" y="4332635"/>
            <a:ext cx="1364961" cy="246306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4352" y="4341489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352" y="4354189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5652" y="4455789"/>
            <a:ext cx="242570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93622" y="4879642"/>
            <a:ext cx="994612" cy="225267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4352" y="4877976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352" y="4890676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5652" y="4992276"/>
            <a:ext cx="242570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71500" y="6502400"/>
            <a:ext cx="6417005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506078"/>
                </a:solidFill>
                <a:latin typeface="DejaVu Sans"/>
              </a:defRPr>
            </a:pPr>
            <a:r>
              <a:t>As setas numeradas correspondem às explicações abaixo.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684530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85800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6858000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Tipo de equipamento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7125081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Escolha Tablet, Notebook, Chromebook ou Celular, conforme a necessidade da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aula e a orientação da escola.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7679817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7692517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800" y="7692517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Quantidade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800" y="7959598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Informe a quantidade necessária: de 1 a 25 aparelhos por pedido. Confira o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número antes de enviar.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8514334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8527034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800" y="8527034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Salvar agendamento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8794115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Clique neste botão. Após salvar, abra Agendamentos e confira se o pedido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aparece na lista.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500" y="9512300"/>
            <a:ext cx="6671005" cy="69850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6900" y="9626600"/>
            <a:ext cx="6366205" cy="384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Exemplo: para uma atividade em duplas, calcule a quantidade necessária para a turma antes de</a:t>
            </a:r>
          </a:p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enviar o pedido.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4500" y="10401300"/>
            <a:ext cx="635350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506078"/>
                </a:solidFill>
                <a:latin typeface="DejaVu Sans"/>
              </a:defRPr>
            </a:pPr>
            <a:r>
              <a:t>Telas e dados de demonstração • Outubro de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1805" y="10375900"/>
            <a:ext cx="508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11/28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5" cy="106920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5" cy="88900"/>
          </a:xfrm>
          <a:prstGeom prst="rect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0" y="304800"/>
            <a:ext cx="393700" cy="342900"/>
          </a:xfrm>
          <a:prstGeom prst="rect">
            <a:avLst/>
          </a:prstGeom>
          <a:solidFill>
            <a:srgbClr val="10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" y="355600"/>
            <a:ext cx="330200" cy="24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368300"/>
            <a:ext cx="5334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APP MONITOR / MANUAL DO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850900"/>
            <a:ext cx="6671005" cy="447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142843"/>
                </a:solidFill>
                <a:latin typeface="DejaVu Sans"/>
              </a:defRPr>
            </a:pPr>
            <a:r>
              <a:t>Acompanhe e ajuste o pedido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1336040"/>
            <a:ext cx="6671005" cy="237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9"/>
              </a:lnSpc>
              <a:spcAft>
                <a:spcPts val="0"/>
              </a:spcAft>
              <a:defRPr sz="1130" b="0">
                <a:solidFill>
                  <a:srgbClr val="506078"/>
                </a:solidFill>
                <a:latin typeface="DejaVu Sans"/>
              </a:defRPr>
            </a:pPr>
            <a:r>
              <a:t>Abra Agendamentos para consultar a situação da sua solicitação.</a:t>
            </a:r>
          </a:p>
        </p:txBody>
      </p:sp>
      <p:pic>
        <p:nvPicPr>
          <p:cNvPr id="9" name="Picture 8" descr="12-pedido-pend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52" y="2171876"/>
            <a:ext cx="5778500" cy="401284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8463" y="3322902"/>
            <a:ext cx="314387" cy="121708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47052" y="3269456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7052" y="3282156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5348251" y="3383756"/>
            <a:ext cx="1486101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497717" y="3290799"/>
            <a:ext cx="327742" cy="185913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47052" y="3586956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7052" y="3599656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5850860" y="3383756"/>
            <a:ext cx="983492" cy="31750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840188" y="3290799"/>
            <a:ext cx="409003" cy="185913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47052" y="3904456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47052" y="3917156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 flipH="1" flipV="1">
            <a:off x="6274592" y="3383756"/>
            <a:ext cx="559760" cy="63500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71500" y="6502400"/>
            <a:ext cx="6417005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506078"/>
                </a:solidFill>
                <a:latin typeface="DejaVu Sans"/>
              </a:defRPr>
            </a:pPr>
            <a:r>
              <a:t>As setas numeradas correspondem às explicações abaixo.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684530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85800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6858000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Entenda o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7125081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Pendente significa que a equipe ainda precisa analisar o pedido. Aprovado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significa que ele foi aprovado; combine a retirada.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7679817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7692517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800" y="7692517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Editar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800" y="7959598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Antes da liberação, use Editar se precisar corrigir os dados. Ao salvar uma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alteração, o pedido volta para aprovação.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8514334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8527034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800" y="8527034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Cancelar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8794115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Se não for mais usar os aparelhos, cancele o pedido enquanto essa ação estiver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disponível. Confira se escolheu a solicitação certa.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500" y="9512300"/>
            <a:ext cx="6671005" cy="69850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6900" y="9626600"/>
            <a:ext cx="6366205" cy="2175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A liberação dos dispositivos ocorre no dia agendado e é registrada pela equipe responsável.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4500" y="10401300"/>
            <a:ext cx="635350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506078"/>
                </a:solidFill>
                <a:latin typeface="DejaVu Sans"/>
              </a:defRPr>
            </a:pPr>
            <a:r>
              <a:t>Telas e dados de demonstração • Outubro de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1805" y="10375900"/>
            <a:ext cx="508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12/28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5" cy="106920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5" cy="88900"/>
          </a:xfrm>
          <a:prstGeom prst="rect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0" y="304800"/>
            <a:ext cx="393700" cy="342900"/>
          </a:xfrm>
          <a:prstGeom prst="rect">
            <a:avLst/>
          </a:prstGeom>
          <a:solidFill>
            <a:srgbClr val="10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" y="355600"/>
            <a:ext cx="330200" cy="24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368300"/>
            <a:ext cx="5334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APP MONITOR / MANUAL DO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850900"/>
            <a:ext cx="6671005" cy="447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142843"/>
                </a:solidFill>
                <a:latin typeface="DejaVu Sans"/>
              </a:defRPr>
            </a:pPr>
            <a:r>
              <a:t>Depois de retirar os aparelhos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1336040"/>
            <a:ext cx="6671005" cy="237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9"/>
              </a:lnSpc>
              <a:spcAft>
                <a:spcPts val="0"/>
              </a:spcAft>
              <a:defRPr sz="1130" b="0">
                <a:solidFill>
                  <a:srgbClr val="506078"/>
                </a:solidFill>
                <a:latin typeface="DejaVu Sans"/>
              </a:defRPr>
            </a:pPr>
            <a:r>
              <a:t>A equipe precisa registrar a liberação para que o empréstimo apareça.</a:t>
            </a:r>
          </a:p>
        </p:txBody>
      </p:sp>
      <p:pic>
        <p:nvPicPr>
          <p:cNvPr id="9" name="Picture 8" descr="26-meus-dispositiv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52" y="2171876"/>
            <a:ext cx="5778500" cy="401284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42258" y="2929643"/>
            <a:ext cx="900200" cy="197952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4352" y="2914319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352" y="2927019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5652" y="3028619"/>
            <a:ext cx="191206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221785" y="3134298"/>
            <a:ext cx="271563" cy="121708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47052" y="3080852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7052" y="3093552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6518748" y="3195152"/>
            <a:ext cx="315604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069868" y="3431248"/>
            <a:ext cx="758622" cy="177888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4352" y="3405893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352" y="3418593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5652" y="3520193"/>
            <a:ext cx="1318816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71500" y="6502400"/>
            <a:ext cx="6417005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506078"/>
                </a:solidFill>
                <a:latin typeface="DejaVu Sans"/>
              </a:defRPr>
            </a:pPr>
            <a:r>
              <a:t>As setas numeradas correspondem às explicações abaixo.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684530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85800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6858000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Abra Meus dispositivos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7125081"/>
            <a:ext cx="6251905" cy="2456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Acesse esse menu depois da entrega dos aparelhos.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7484999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7497699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800" y="7497699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Localize a movimentação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800" y="7764780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Confira turma, quantidade e situação. Em uso indica que o empréstimo está em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andamento.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8319516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8332216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800" y="8332216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Abra os detalhes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8599297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Clique em Abrir movimentação para ver a lista de aparelhos e registrar quem está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utilizando cada um.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500" y="9512300"/>
            <a:ext cx="6671005" cy="69850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6900" y="9626600"/>
            <a:ext cx="6366205" cy="384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Se a movimentação não aparecer, confirme com a equipe se a liberação foi concluída na sua</a:t>
            </a:r>
          </a:p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conta e turma.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4500" y="10401300"/>
            <a:ext cx="635350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506078"/>
                </a:solidFill>
                <a:latin typeface="DejaVu Sans"/>
              </a:defRPr>
            </a:pPr>
            <a:r>
              <a:t>Telas e dados de demonstração • Outubro de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1805" y="10375900"/>
            <a:ext cx="508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13/28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5" cy="106920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5" cy="88900"/>
          </a:xfrm>
          <a:prstGeom prst="rect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0" y="304800"/>
            <a:ext cx="393700" cy="342900"/>
          </a:xfrm>
          <a:prstGeom prst="rect">
            <a:avLst/>
          </a:prstGeom>
          <a:solidFill>
            <a:srgbClr val="10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" y="355600"/>
            <a:ext cx="330200" cy="24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368300"/>
            <a:ext cx="5334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APP MONITOR / MANUAL DO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850900"/>
            <a:ext cx="6671005" cy="447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142843"/>
                </a:solidFill>
                <a:latin typeface="DejaVu Sans"/>
              </a:defRPr>
            </a:pPr>
            <a:r>
              <a:t>Associe os aparelhos aos alunos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1336040"/>
            <a:ext cx="6671005" cy="237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9"/>
              </a:lnSpc>
              <a:spcAft>
                <a:spcPts val="0"/>
              </a:spcAft>
              <a:defRPr sz="1130" b="0">
                <a:solidFill>
                  <a:srgbClr val="506078"/>
                </a:solidFill>
                <a:latin typeface="DejaVu Sans"/>
              </a:defRPr>
            </a:pPr>
            <a:r>
              <a:t>Cada linha mostra o identificador de um aparelho entregue.</a:t>
            </a:r>
          </a:p>
        </p:txBody>
      </p:sp>
      <p:pic>
        <p:nvPicPr>
          <p:cNvPr id="9" name="Picture 8" descr="16-uso-e-devolu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52" y="2712662"/>
            <a:ext cx="5778500" cy="29312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360599" y="3983207"/>
            <a:ext cx="1181100" cy="214949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4352" y="3976382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352" y="3989082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5652" y="4090682"/>
            <a:ext cx="1609547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93622" y="5304790"/>
            <a:ext cx="948236" cy="236010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4352" y="5308496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352" y="5321196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5652" y="5422796"/>
            <a:ext cx="242570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1500" y="6502400"/>
            <a:ext cx="6417005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506078"/>
                </a:solidFill>
                <a:latin typeface="DejaVu Sans"/>
              </a:defRPr>
            </a:pPr>
            <a:r>
              <a:t>As setas numeradas correspondem às explicações abaixo.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684530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85800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" y="6858000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Preencha os alunos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" y="7125081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Ao lado de cada dispositivo, informe o aluno que o utilizou, conforme a orientação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da escola. Repita nas demais linhas.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7679817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7692517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7692517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Salve as associações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7959598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Clique em Salvar associações para registrar os nomes durante a aula. Depois,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você poderá continuar usando a movimentação.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4500" y="9512300"/>
            <a:ext cx="6671005" cy="69850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6900" y="9626600"/>
            <a:ext cx="6366205" cy="384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Confira a etiqueta física para não trocar os alunos entre os aparelhos. Todas as associações</a:t>
            </a:r>
          </a:p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devem estar preenchidas ao devolver.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500" y="10401300"/>
            <a:ext cx="635350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506078"/>
                </a:solidFill>
                <a:latin typeface="DejaVu Sans"/>
              </a:defRPr>
            </a:pPr>
            <a:r>
              <a:t>Telas e dados de demonstração • Outubro de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1805" y="10375900"/>
            <a:ext cx="508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14/28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5" cy="106920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5" cy="88900"/>
          </a:xfrm>
          <a:prstGeom prst="rect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0" y="304800"/>
            <a:ext cx="393700" cy="342900"/>
          </a:xfrm>
          <a:prstGeom prst="rect">
            <a:avLst/>
          </a:prstGeom>
          <a:solidFill>
            <a:srgbClr val="10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" y="355600"/>
            <a:ext cx="330200" cy="24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368300"/>
            <a:ext cx="5334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APP MONITOR / MANUAL DO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850900"/>
            <a:ext cx="6671005" cy="447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142843"/>
                </a:solidFill>
                <a:latin typeface="DejaVu Sans"/>
              </a:defRPr>
            </a:pPr>
            <a:r>
              <a:t>Precisa de aparelhos extras?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1336040"/>
            <a:ext cx="6671005" cy="237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9"/>
              </a:lnSpc>
              <a:spcAft>
                <a:spcPts val="0"/>
              </a:spcAft>
              <a:defRPr sz="1130" b="0">
                <a:solidFill>
                  <a:srgbClr val="506078"/>
                </a:solidFill>
                <a:latin typeface="DejaVu Sans"/>
              </a:defRPr>
            </a:pPr>
            <a:r>
              <a:t>A solicitação de extras acontece dentro de um empréstimo em uso.</a:t>
            </a:r>
          </a:p>
        </p:txBody>
      </p:sp>
      <p:pic>
        <p:nvPicPr>
          <p:cNvPr id="9" name="Picture 8" descr="16-uso-e-devolu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52" y="2712662"/>
            <a:ext cx="5778500" cy="29312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968990" y="5304790"/>
            <a:ext cx="785715" cy="236010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4352" y="5308496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352" y="5321196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5652" y="5422796"/>
            <a:ext cx="1217938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93622" y="5304790"/>
            <a:ext cx="948236" cy="236010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4352" y="5625996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352" y="5638696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25652" y="5422796"/>
            <a:ext cx="242570" cy="31750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1500" y="6502400"/>
            <a:ext cx="6417005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506078"/>
                </a:solidFill>
                <a:latin typeface="DejaVu Sans"/>
              </a:defRPr>
            </a:pPr>
            <a:r>
              <a:t>As setas numeradas correspondem às explicações abaixo.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684530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85800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" y="6858000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Abra a solicitação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" y="7125081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Na movimentação, clique em Solicitar extras. Será aberto um formulário de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quantidade.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7679817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7692517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7692517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Mantenha o registro dos alunos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7959598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Se preencher ou corrigir os alunos durante a aula, use Salvar associações para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guardar as alterações.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4500" y="9512300"/>
            <a:ext cx="6671005" cy="69850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6900" y="9626600"/>
            <a:ext cx="6366205" cy="384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É permitido um único pedido de até 5 aparelhos extras por aula. A equipe ainda precisa efetuar a</a:t>
            </a:r>
          </a:p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liberação dos extras.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500" y="10401300"/>
            <a:ext cx="635350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506078"/>
                </a:solidFill>
                <a:latin typeface="DejaVu Sans"/>
              </a:defRPr>
            </a:pPr>
            <a:r>
              <a:t>Telas e dados de demonstração • Outubro de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1805" y="10375900"/>
            <a:ext cx="508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15/28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5" cy="106920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5" cy="88900"/>
          </a:xfrm>
          <a:prstGeom prst="rect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0" y="304800"/>
            <a:ext cx="393700" cy="342900"/>
          </a:xfrm>
          <a:prstGeom prst="rect">
            <a:avLst/>
          </a:prstGeom>
          <a:solidFill>
            <a:srgbClr val="10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" y="355600"/>
            <a:ext cx="330200" cy="24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368300"/>
            <a:ext cx="5334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APP MONITOR / MANUAL DO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850900"/>
            <a:ext cx="6671005" cy="447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142843"/>
                </a:solidFill>
                <a:latin typeface="DejaVu Sans"/>
              </a:defRPr>
            </a:pPr>
            <a:r>
              <a:t>Envie o pedido de extras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1336040"/>
            <a:ext cx="6671005" cy="237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9"/>
              </a:lnSpc>
              <a:spcAft>
                <a:spcPts val="0"/>
              </a:spcAft>
              <a:defRPr sz="1130" b="0">
                <a:solidFill>
                  <a:srgbClr val="506078"/>
                </a:solidFill>
                <a:latin typeface="DejaVu Sans"/>
              </a:defRPr>
            </a:pPr>
            <a:r>
              <a:t>Escolha a quantidade adicional com atenção.</a:t>
            </a:r>
          </a:p>
        </p:txBody>
      </p:sp>
      <p:pic>
        <p:nvPicPr>
          <p:cNvPr id="9" name="Picture 8" descr="21-ext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52" y="2421636"/>
            <a:ext cx="5778500" cy="351332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32306" y="4372191"/>
            <a:ext cx="5295392" cy="511243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4352" y="4513513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352" y="4526213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5652" y="4627813"/>
            <a:ext cx="381254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132306" y="5228201"/>
            <a:ext cx="1571690" cy="464972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4352" y="5346388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352" y="5359088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5652" y="5460688"/>
            <a:ext cx="381254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1500" y="6502400"/>
            <a:ext cx="6417005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506078"/>
                </a:solidFill>
                <a:latin typeface="DejaVu Sans"/>
              </a:defRPr>
            </a:pPr>
            <a:r>
              <a:t>As setas numeradas correspondem às explicações abaixo.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684530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85800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" y="6858000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Quantidade extra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" y="7125081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Informe de 1 a 5 aparelhos adicionais. Essa quantidade é acrescentada ao pedido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original, quando liberada pela equipe.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7679817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7692517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7692517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Enviar pedido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7959598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Clique em Enviar pedido e avise a equipe responsável pela entrega. Confira os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novos aparelhos na movimentação após a liberação.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4500" y="9512300"/>
            <a:ext cx="6671005" cy="69850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6900" y="9626600"/>
            <a:ext cx="6366205" cy="384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Não registre aparelhos recebidos por fora do fluxo. Peça à equipe para registrar a entrega no App</a:t>
            </a:r>
          </a:p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Monitor.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500" y="10401300"/>
            <a:ext cx="635350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506078"/>
                </a:solidFill>
                <a:latin typeface="DejaVu Sans"/>
              </a:defRPr>
            </a:pPr>
            <a:r>
              <a:t>Telas e dados de demonstração • Outubro de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1805" y="10375900"/>
            <a:ext cx="508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16/28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5" cy="106920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5" cy="88900"/>
          </a:xfrm>
          <a:prstGeom prst="rect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0" y="304800"/>
            <a:ext cx="393700" cy="342900"/>
          </a:xfrm>
          <a:prstGeom prst="rect">
            <a:avLst/>
          </a:prstGeom>
          <a:solidFill>
            <a:srgbClr val="10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" y="355600"/>
            <a:ext cx="330200" cy="24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368300"/>
            <a:ext cx="5334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APP MONITOR / MANUAL DO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850900"/>
            <a:ext cx="6671005" cy="447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142843"/>
                </a:solidFill>
                <a:latin typeface="DejaVu Sans"/>
              </a:defRPr>
            </a:pPr>
            <a:r>
              <a:t>Registre e envie a devolução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1336040"/>
            <a:ext cx="6671005" cy="237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9"/>
              </a:lnSpc>
              <a:spcAft>
                <a:spcPts val="0"/>
              </a:spcAft>
              <a:defRPr sz="1130" b="0">
                <a:solidFill>
                  <a:srgbClr val="506078"/>
                </a:solidFill>
                <a:latin typeface="DejaVu Sans"/>
              </a:defRPr>
            </a:pPr>
            <a:r>
              <a:t>Ao concluir a aula, confira todos os aparelhos e devolva-os à equipe.</a:t>
            </a:r>
          </a:p>
        </p:txBody>
      </p:sp>
      <p:pic>
        <p:nvPicPr>
          <p:cNvPr id="9" name="Picture 8" descr="16-uso-e-devolu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52" y="2712662"/>
            <a:ext cx="5778500" cy="29312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93622" y="4694019"/>
            <a:ext cx="5572760" cy="530866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4352" y="4845152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352" y="4857852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5652" y="4959452"/>
            <a:ext cx="242570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781838" y="5304790"/>
            <a:ext cx="868535" cy="236010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4352" y="5308496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352" y="5321196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5652" y="5422796"/>
            <a:ext cx="2030786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1500" y="6502400"/>
            <a:ext cx="6417005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506078"/>
                </a:solidFill>
                <a:latin typeface="DejaVu Sans"/>
              </a:defRPr>
            </a:pPr>
            <a:r>
              <a:t>As setas numeradas correspondem às explicações abaixo.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684530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85800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" y="6858000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Escreva o relato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" y="7125081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Descreva como terminou a utilização e informe qualquer ocorrência. Exemplo: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aula concluída e aparelhos devolvidos sem ocorrências.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7679817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7692517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7692517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Envie para conferência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7959598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Confira os alunos e clique em Enviar devolução. O aplicativo salva as associações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e encaminha a movimentação para conferência.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4500" y="9512300"/>
            <a:ext cx="6671005" cy="69850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6900" y="9626600"/>
            <a:ext cx="6366205" cy="384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Se houve dano, falha ou falta de um aparelho, registre o ocorrido e avise a equipe. O relato deve</a:t>
            </a:r>
          </a:p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ter pelo menos 5 caracteres.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500" y="10401300"/>
            <a:ext cx="635350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506078"/>
                </a:solidFill>
                <a:latin typeface="DejaVu Sans"/>
              </a:defRPr>
            </a:pPr>
            <a:r>
              <a:t>Telas e dados de demonstração • Outubro de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1805" y="10375900"/>
            <a:ext cx="508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17/28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5" cy="106920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5" cy="88900"/>
          </a:xfrm>
          <a:prstGeom prst="rect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0" y="304800"/>
            <a:ext cx="393700" cy="342900"/>
          </a:xfrm>
          <a:prstGeom prst="rect">
            <a:avLst/>
          </a:prstGeom>
          <a:solidFill>
            <a:srgbClr val="10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" y="355600"/>
            <a:ext cx="330200" cy="24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368300"/>
            <a:ext cx="5334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APP MONITOR / MANUAL DO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850900"/>
            <a:ext cx="6671005" cy="447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142843"/>
                </a:solidFill>
                <a:latin typeface="DejaVu Sans"/>
              </a:defRPr>
            </a:pPr>
            <a:r>
              <a:t>Aguarde a conferência da equipe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1336040"/>
            <a:ext cx="6671005" cy="237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9"/>
              </a:lnSpc>
              <a:spcAft>
                <a:spcPts val="0"/>
              </a:spcAft>
              <a:defRPr sz="1130" b="0">
                <a:solidFill>
                  <a:srgbClr val="506078"/>
                </a:solidFill>
                <a:latin typeface="DejaVu Sans"/>
              </a:defRPr>
            </a:pPr>
            <a:r>
              <a:t>Enviar a devolução é uma etapa; o retorno físico ainda será conferido.</a:t>
            </a:r>
          </a:p>
        </p:txBody>
      </p:sp>
      <p:pic>
        <p:nvPicPr>
          <p:cNvPr id="9" name="Picture 8" descr="27-devolucao-pend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52" y="2171876"/>
            <a:ext cx="5778500" cy="401284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42258" y="2929643"/>
            <a:ext cx="900200" cy="197952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4352" y="2914319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352" y="2927019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5652" y="3028619"/>
            <a:ext cx="191206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026472" y="3134298"/>
            <a:ext cx="466875" cy="121708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47052" y="3080852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7052" y="3093552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6518748" y="3195152"/>
            <a:ext cx="315604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1500" y="6502400"/>
            <a:ext cx="6417005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506078"/>
                </a:solidFill>
                <a:latin typeface="DejaVu Sans"/>
              </a:defRPr>
            </a:pPr>
            <a:r>
              <a:t>As setas numeradas correspondem às explicações abaixo.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684530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85800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" y="6858000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Consulte Meus dispositivos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" y="7125081"/>
            <a:ext cx="6251905" cy="2456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Acompanhe a movimentação enquanto a equipe verifica os aparelhos recebidos.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7484999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7497699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7497699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Observe o status de retorno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7764780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Conferir retorno indica que os aparelhos aguardam a conferência registrada pela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equipe.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4500" y="9512300"/>
            <a:ext cx="6671005" cy="69850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6900" y="9626600"/>
            <a:ext cx="6366205" cy="2175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Depois da conferência, será necessário revisar e assinar o relatório. Fique atento às notificações.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500" y="10401300"/>
            <a:ext cx="635350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506078"/>
                </a:solidFill>
                <a:latin typeface="DejaVu Sans"/>
              </a:defRPr>
            </a:pPr>
            <a:r>
              <a:t>Telas e dados de demonstração • Outubro de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1805" y="10375900"/>
            <a:ext cx="508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18/28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5" cy="106920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5" cy="88900"/>
          </a:xfrm>
          <a:prstGeom prst="rect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0" y="304800"/>
            <a:ext cx="393700" cy="342900"/>
          </a:xfrm>
          <a:prstGeom prst="rect">
            <a:avLst/>
          </a:prstGeom>
          <a:solidFill>
            <a:srgbClr val="10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" y="355600"/>
            <a:ext cx="330200" cy="24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368300"/>
            <a:ext cx="5334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APP MONITOR / MANUAL DO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850900"/>
            <a:ext cx="6671005" cy="447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142843"/>
                </a:solidFill>
                <a:latin typeface="DejaVu Sans"/>
              </a:defRPr>
            </a:pPr>
            <a:r>
              <a:t>Abra o relatório para assinar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1336040"/>
            <a:ext cx="6671005" cy="237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9"/>
              </a:lnSpc>
              <a:spcAft>
                <a:spcPts val="0"/>
              </a:spcAft>
              <a:defRPr sz="1130" b="0">
                <a:solidFill>
                  <a:srgbClr val="506078"/>
                </a:solidFill>
                <a:latin typeface="DejaVu Sans"/>
              </a:defRPr>
            </a:pPr>
            <a:r>
              <a:t>Acesse o relatório depois que a equipe concluir a conferência.</a:t>
            </a:r>
          </a:p>
        </p:txBody>
      </p:sp>
      <p:pic>
        <p:nvPicPr>
          <p:cNvPr id="9" name="Picture 8" descr="28-lista-relato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52" y="2171876"/>
            <a:ext cx="5778500" cy="401284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42258" y="3126272"/>
            <a:ext cx="900200" cy="270183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4352" y="3147064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352" y="3159764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5652" y="3261364"/>
            <a:ext cx="191206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069868" y="3696096"/>
            <a:ext cx="512459" cy="177888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4352" y="367074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352" y="368344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5652" y="3785040"/>
            <a:ext cx="1318816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1500" y="6502400"/>
            <a:ext cx="6417005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506078"/>
                </a:solidFill>
                <a:latin typeface="DejaVu Sans"/>
              </a:defRPr>
            </a:pPr>
            <a:r>
              <a:t>As setas numeradas correspondem às explicações abaixo.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684530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85800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" y="6858000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Relatórios e assinaturas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" y="7125081"/>
            <a:ext cx="6251905" cy="2456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Abra este menu para encontrar os relatórios e as assinaturas pendentes.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7484999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7497699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7497699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Ver relatório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7764780"/>
            <a:ext cx="6251905" cy="2456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Localize a movimentação da sua turma e clique em Ver relatório.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4500" y="9512300"/>
            <a:ext cx="6671005" cy="69850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6900" y="9626600"/>
            <a:ext cx="6366205" cy="384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Uma assinatura sua pendente pode impedir novos pedidos. Resolva a pendência após conferir as</a:t>
            </a:r>
          </a:p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informações do relatório.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500" y="10401300"/>
            <a:ext cx="635350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506078"/>
                </a:solidFill>
                <a:latin typeface="DejaVu Sans"/>
              </a:defRPr>
            </a:pPr>
            <a:r>
              <a:t>Telas e dados de demonstração • Outubro de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1805" y="10375900"/>
            <a:ext cx="508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19/28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5" cy="106920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5" cy="88900"/>
          </a:xfrm>
          <a:prstGeom prst="rect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0" y="304800"/>
            <a:ext cx="393700" cy="342900"/>
          </a:xfrm>
          <a:prstGeom prst="rect">
            <a:avLst/>
          </a:prstGeom>
          <a:solidFill>
            <a:srgbClr val="10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" y="355600"/>
            <a:ext cx="330200" cy="24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368300"/>
            <a:ext cx="5334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APP MONITOR / MANUAL DO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850900"/>
            <a:ext cx="6671005" cy="447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142843"/>
                </a:solidFill>
                <a:latin typeface="DejaVu Sans"/>
              </a:defRPr>
            </a:pPr>
            <a:r>
              <a:t>Leia antes de assinar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1336040"/>
            <a:ext cx="6671005" cy="237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9"/>
              </a:lnSpc>
              <a:spcAft>
                <a:spcPts val="0"/>
              </a:spcAft>
              <a:defRPr sz="1130" b="0">
                <a:solidFill>
                  <a:srgbClr val="506078"/>
                </a:solidFill>
                <a:latin typeface="DejaVu Sans"/>
              </a:defRPr>
            </a:pPr>
            <a:r>
              <a:t>Confira se o relatório corresponde ao que aconteceu na aula.</a:t>
            </a:r>
          </a:p>
        </p:txBody>
      </p:sp>
      <p:pic>
        <p:nvPicPr>
          <p:cNvPr id="9" name="Picture 8" descr="18-assina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52" y="2091619"/>
            <a:ext cx="5778500" cy="417336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64248" y="3035528"/>
            <a:ext cx="5431507" cy="475379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4352" y="3158918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352" y="3171618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5652" y="3273218"/>
            <a:ext cx="313196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064248" y="4949348"/>
            <a:ext cx="5431507" cy="820498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4352" y="5245297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352" y="5257997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5652" y="5359597"/>
            <a:ext cx="313196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1500" y="6502400"/>
            <a:ext cx="6417005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506078"/>
                </a:solidFill>
                <a:latin typeface="DejaVu Sans"/>
              </a:defRPr>
            </a:pPr>
            <a:r>
              <a:t>As setas numeradas correspondem às explicações abaixo.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684530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85800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" y="6858000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Identificação da movimentação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" y="7125081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Confira professor, turma, situação e datas. Leia também a lista dos aparelhos e o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relato registrado.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7679817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7692517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7692517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Assinaturas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7959598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Observe quais assinaturas já foram registradas e quais estão pendentes. Você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assina pela sua própria conta de professor.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4500" y="9512300"/>
            <a:ext cx="6671005" cy="69850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6900" y="9626600"/>
            <a:ext cx="6366205" cy="2175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Se encontrar uma divergência, procure a equipe responsável antes de confirmar sua assinatura.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500" y="10401300"/>
            <a:ext cx="635350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506078"/>
                </a:solidFill>
                <a:latin typeface="DejaVu Sans"/>
              </a:defRPr>
            </a:pPr>
            <a:r>
              <a:t>Telas e dados de demonstração • Outubro de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1805" y="10375900"/>
            <a:ext cx="508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20/28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5" cy="106920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5" cy="88900"/>
          </a:xfrm>
          <a:prstGeom prst="rect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0" y="304800"/>
            <a:ext cx="393700" cy="342900"/>
          </a:xfrm>
          <a:prstGeom prst="rect">
            <a:avLst/>
          </a:prstGeom>
          <a:solidFill>
            <a:srgbClr val="10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" y="355600"/>
            <a:ext cx="330200" cy="24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368300"/>
            <a:ext cx="5334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APP MONITOR / MANUAL DO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850900"/>
            <a:ext cx="6671005" cy="447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142843"/>
                </a:solidFill>
                <a:latin typeface="DejaVu Sans"/>
              </a:defRPr>
            </a:pPr>
            <a:r>
              <a:t>Desenhe e confirme a assinatura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1336040"/>
            <a:ext cx="6671005" cy="237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9"/>
              </a:lnSpc>
              <a:spcAft>
                <a:spcPts val="0"/>
              </a:spcAft>
              <a:defRPr sz="1130" b="0">
                <a:solidFill>
                  <a:srgbClr val="506078"/>
                </a:solidFill>
                <a:latin typeface="DejaVu Sans"/>
              </a:defRPr>
            </a:pPr>
            <a:r>
              <a:t>Role a janela do relatório até a área da sua assinatura.</a:t>
            </a:r>
          </a:p>
        </p:txBody>
      </p:sp>
      <p:pic>
        <p:nvPicPr>
          <p:cNvPr id="9" name="Picture 8" descr="22-assinar-cam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52" y="3518916"/>
            <a:ext cx="5778500" cy="131876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78052" y="3729292"/>
            <a:ext cx="5803900" cy="847168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4352" y="4038576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352" y="4051276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5652" y="4152876"/>
            <a:ext cx="127000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78052" y="4605845"/>
            <a:ext cx="481462" cy="244538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4352" y="4613814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352" y="4626514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5652" y="4728114"/>
            <a:ext cx="127000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388835" y="4605845"/>
            <a:ext cx="1341431" cy="244538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4352" y="4931314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352" y="4944014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725652" y="4728114"/>
            <a:ext cx="637783" cy="31750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71500" y="6502400"/>
            <a:ext cx="6417005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506078"/>
                </a:solidFill>
                <a:latin typeface="DejaVu Sans"/>
              </a:defRPr>
            </a:pPr>
            <a:r>
              <a:t>As setas numeradas correspondem às explicações abaixo.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684530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85800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6858000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Desenhe neste espaço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7125081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No celular, use o dedo. No computador, clique e arraste com o mouse para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desenhar sua assinatura.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7679817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7692517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800" y="7692517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Limpar, se precisar refazer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800" y="7959598"/>
            <a:ext cx="6251905" cy="2456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Se o desenho ficar incorreto, clique em Limpar e faça a assinatura novamente.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8319516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8332216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800" y="8332216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Confirme o registro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8599297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Quando terminar, clique em Confirmar minha assinatura. Aguarde a confirmação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antes de sair.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500" y="9512300"/>
            <a:ext cx="6671005" cy="69850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6900" y="9626600"/>
            <a:ext cx="6366205" cy="384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As assinaturas são registros manuscritos feitos por contas autenticadas; não são assinaturas</a:t>
            </a:r>
          </a:p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certificadas ICP-Brasil.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4500" y="10401300"/>
            <a:ext cx="635350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506078"/>
                </a:solidFill>
                <a:latin typeface="DejaVu Sans"/>
              </a:defRPr>
            </a:pPr>
            <a:r>
              <a:t>Telas e dados de demonstração • Outubro de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1805" y="10375900"/>
            <a:ext cx="508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21/28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5" cy="106920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5" cy="88900"/>
          </a:xfrm>
          <a:prstGeom prst="rect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0" y="304800"/>
            <a:ext cx="393700" cy="342900"/>
          </a:xfrm>
          <a:prstGeom prst="rect">
            <a:avLst/>
          </a:prstGeom>
          <a:solidFill>
            <a:srgbClr val="10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" y="355600"/>
            <a:ext cx="330200" cy="24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368300"/>
            <a:ext cx="5334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APP MONITOR / MANUAL DO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850900"/>
            <a:ext cx="6671005" cy="447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142843"/>
                </a:solidFill>
                <a:latin typeface="DejaVu Sans"/>
              </a:defRPr>
            </a:pPr>
            <a:r>
              <a:t>Consulte seus registros concluídos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1336040"/>
            <a:ext cx="6671005" cy="237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9"/>
              </a:lnSpc>
              <a:spcAft>
                <a:spcPts val="0"/>
              </a:spcAft>
              <a:defRPr sz="1130" b="0">
                <a:solidFill>
                  <a:srgbClr val="506078"/>
                </a:solidFill>
                <a:latin typeface="DejaVu Sans"/>
              </a:defRPr>
            </a:pPr>
            <a:r>
              <a:t>Depois das assinaturas necessárias, a movimentação fica disponível no histórico.</a:t>
            </a:r>
          </a:p>
        </p:txBody>
      </p:sp>
      <p:pic>
        <p:nvPicPr>
          <p:cNvPr id="9" name="Picture 8" descr="25-histor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52" y="2171876"/>
            <a:ext cx="5778500" cy="401284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42258" y="3395133"/>
            <a:ext cx="900200" cy="197952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4352" y="3379809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352" y="3392509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5652" y="3494109"/>
            <a:ext cx="191206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069868" y="3154362"/>
            <a:ext cx="4423480" cy="193939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47052" y="3137032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7052" y="3149732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6518748" y="3251332"/>
            <a:ext cx="315604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51130" y="3623865"/>
            <a:ext cx="626323" cy="185913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47052" y="3602522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47052" y="3615222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102854" y="3716822"/>
            <a:ext cx="731498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71500" y="6502400"/>
            <a:ext cx="6417005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506078"/>
                </a:solidFill>
                <a:latin typeface="DejaVu Sans"/>
              </a:defRPr>
            </a:pPr>
            <a:r>
              <a:t>As setas numeradas correspondem às explicações abaixo.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684530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85800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6858000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Abra Histórico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7125081"/>
            <a:ext cx="6251905" cy="2456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Esse menu reúne as movimentações concluídas que você pode consultar.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7484999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7497699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800" y="7497699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Pesquise a movimentação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800" y="7764780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Use o campo de pesquisa para filtrar pela turma ou pelo professor, conforme os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registros disponíveis para sua conta.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8319516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8332216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800" y="8332216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Visualizar / PDF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8599297"/>
            <a:ext cx="6251905" cy="2456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Clique no botão da linha desejada para abrir novamente o relatório.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500" y="9512300"/>
            <a:ext cx="6671005" cy="69850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6900" y="9626600"/>
            <a:ext cx="6366205" cy="384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Se o empréstimo ainda não estiver no histórico, verifique se falta conferência ou alguma</a:t>
            </a:r>
          </a:p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assinatura.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4500" y="10401300"/>
            <a:ext cx="635350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506078"/>
                </a:solidFill>
                <a:latin typeface="DejaVu Sans"/>
              </a:defRPr>
            </a:pPr>
            <a:r>
              <a:t>Telas e dados de demonstração • Outubro de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1805" y="10375900"/>
            <a:ext cx="508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22/28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5" cy="106920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5" cy="88900"/>
          </a:xfrm>
          <a:prstGeom prst="rect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0" y="304800"/>
            <a:ext cx="393700" cy="342900"/>
          </a:xfrm>
          <a:prstGeom prst="rect">
            <a:avLst/>
          </a:prstGeom>
          <a:solidFill>
            <a:srgbClr val="10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" y="355600"/>
            <a:ext cx="330200" cy="24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368300"/>
            <a:ext cx="5334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APP MONITOR / MANUAL DO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850900"/>
            <a:ext cx="6671005" cy="447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142843"/>
                </a:solidFill>
                <a:latin typeface="DejaVu Sans"/>
              </a:defRPr>
            </a:pPr>
            <a:r>
              <a:t>Guarde uma cópia do relatório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1336040"/>
            <a:ext cx="6671005" cy="237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9"/>
              </a:lnSpc>
              <a:spcAft>
                <a:spcPts val="0"/>
              </a:spcAft>
              <a:defRPr sz="1130" b="0">
                <a:solidFill>
                  <a:srgbClr val="506078"/>
                </a:solidFill>
                <a:latin typeface="DejaVu Sans"/>
              </a:defRPr>
            </a:pPr>
            <a:r>
              <a:t>Abra o relatório pelo Histórico antes de imprimir ou salvar.</a:t>
            </a:r>
          </a:p>
        </p:txBody>
      </p:sp>
      <p:pic>
        <p:nvPicPr>
          <p:cNvPr id="9" name="Picture 8" descr="19-relato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52" y="2061267"/>
            <a:ext cx="5778500" cy="423406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93622" y="5956618"/>
            <a:ext cx="1023832" cy="235731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4352" y="5960184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352" y="5972884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5652" y="6074484"/>
            <a:ext cx="242570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555713" y="4785666"/>
            <a:ext cx="4448579" cy="675783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4352" y="5009257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352" y="5021957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5652" y="5123557"/>
            <a:ext cx="804661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1500" y="6502400"/>
            <a:ext cx="6417005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506078"/>
                </a:solidFill>
                <a:latin typeface="DejaVu Sans"/>
              </a:defRPr>
            </a:pPr>
            <a:r>
              <a:t>As setas numeradas correspondem às explicações abaixo.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684530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85800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" y="6858000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Imprimir / salvar 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" y="7125081"/>
            <a:ext cx="6251905" cy="2456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Clique neste botão para abrir a janela de impressão do navegador.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7484999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7497699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7497699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Confira as assinaturas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7764780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Antes de guardar a cópia, verifique se o relatório é o desejado e se contém os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registros esperados.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4500" y="9512300"/>
            <a:ext cx="6671005" cy="69850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6900" y="9626600"/>
            <a:ext cx="6366205" cy="384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Na janela do navegador, escolha Salvar como PDF (ou opção equivalente), indique a pasta e</a:t>
            </a:r>
          </a:p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confirme Salvar.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500" y="10401300"/>
            <a:ext cx="635350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506078"/>
                </a:solidFill>
                <a:latin typeface="DejaVu Sans"/>
              </a:defRPr>
            </a:pPr>
            <a:r>
              <a:t>Telas e dados de demonstração • Outubro de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1805" y="10375900"/>
            <a:ext cx="508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23/28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5" cy="106920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5" cy="88900"/>
          </a:xfrm>
          <a:prstGeom prst="rect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0" y="304800"/>
            <a:ext cx="393700" cy="342900"/>
          </a:xfrm>
          <a:prstGeom prst="rect">
            <a:avLst/>
          </a:prstGeom>
          <a:solidFill>
            <a:srgbClr val="10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" y="355600"/>
            <a:ext cx="330200" cy="24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368300"/>
            <a:ext cx="5334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APP MONITOR / MANUAL DO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850900"/>
            <a:ext cx="6671005" cy="447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142843"/>
                </a:solidFill>
                <a:latin typeface="DejaVu Sans"/>
              </a:defRPr>
            </a:pPr>
            <a:r>
              <a:t>Consulte as notificações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1336040"/>
            <a:ext cx="6671005" cy="237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9"/>
              </a:lnSpc>
              <a:spcAft>
                <a:spcPts val="0"/>
              </a:spcAft>
              <a:defRPr sz="1130" b="0">
                <a:solidFill>
                  <a:srgbClr val="506078"/>
                </a:solidFill>
                <a:latin typeface="DejaVu Sans"/>
              </a:defRPr>
            </a:pPr>
            <a:r>
              <a:t>Clique no sino, no cabeçalho do aplicativo, para abrir os avisos.</a:t>
            </a:r>
          </a:p>
        </p:txBody>
      </p:sp>
      <p:pic>
        <p:nvPicPr>
          <p:cNvPr id="9" name="Picture 8" descr="23-notificaco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52" y="2375408"/>
            <a:ext cx="5778500" cy="36057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32306" y="5063328"/>
            <a:ext cx="813984" cy="489586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4352" y="5193821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352" y="5206521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5652" y="5308121"/>
            <a:ext cx="381254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036461" y="5063328"/>
            <a:ext cx="1122050" cy="489586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4352" y="5511321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352" y="5524021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25652" y="5308121"/>
            <a:ext cx="1285409" cy="31750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1500" y="6502400"/>
            <a:ext cx="6417005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506078"/>
                </a:solidFill>
                <a:latin typeface="DejaVu Sans"/>
              </a:defRPr>
            </a:pPr>
            <a:r>
              <a:t>As setas numeradas correspondem às explicações abaixo.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684530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85800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" y="6858000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Leia e abra o aviso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" y="7125081"/>
            <a:ext cx="6251905" cy="2456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Confira a mensagem e clique em Abrir para ir à área relacionada à notificação.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7484999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7497699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7497699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Concluir a notificação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7764780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Use Concluir quando tiver tratado aquele aviso. Esse botão conclui o aviso, não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substitui as ações do empréstimo.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4500" y="9512300"/>
            <a:ext cx="6671005" cy="69850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6900" y="9626600"/>
            <a:ext cx="6366205" cy="384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Marcar um aviso como concluído não assina relatórios, não devolve aparelhos e não cancela</a:t>
            </a:r>
          </a:p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agendamentos.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500" y="10401300"/>
            <a:ext cx="635350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506078"/>
                </a:solidFill>
                <a:latin typeface="DejaVu Sans"/>
              </a:defRPr>
            </a:pPr>
            <a:r>
              <a:t>Telas e dados de demonstração • Outubro de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1805" y="10375900"/>
            <a:ext cx="508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24/28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5" cy="106920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5" cy="88900"/>
          </a:xfrm>
          <a:prstGeom prst="rect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0" y="304800"/>
            <a:ext cx="393700" cy="342900"/>
          </a:xfrm>
          <a:prstGeom prst="rect">
            <a:avLst/>
          </a:prstGeom>
          <a:solidFill>
            <a:srgbClr val="10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" y="355600"/>
            <a:ext cx="330200" cy="24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368300"/>
            <a:ext cx="5334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APP MONITOR / MANUAL DO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850900"/>
            <a:ext cx="6671005" cy="447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142843"/>
                </a:solidFill>
                <a:latin typeface="DejaVu Sans"/>
              </a:defRPr>
            </a:pPr>
            <a:r>
              <a:t>Troque sua senha quando precisar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1336040"/>
            <a:ext cx="6671005" cy="237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9"/>
              </a:lnSpc>
              <a:spcAft>
                <a:spcPts val="0"/>
              </a:spcAft>
              <a:defRPr sz="1130" b="0">
                <a:solidFill>
                  <a:srgbClr val="506078"/>
                </a:solidFill>
                <a:latin typeface="DejaVu Sans"/>
              </a:defRPr>
            </a:pPr>
            <a:r>
              <a:t>Depois de entrar, clique em Conta no cabeçalho.</a:t>
            </a:r>
          </a:p>
        </p:txBody>
      </p:sp>
      <p:pic>
        <p:nvPicPr>
          <p:cNvPr id="9" name="Picture 8" descr="24-con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52" y="2178939"/>
            <a:ext cx="5778500" cy="399872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32306" y="3740570"/>
            <a:ext cx="5295392" cy="512598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4352" y="3882569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352" y="3895269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5652" y="3996869"/>
            <a:ext cx="381254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132306" y="4610567"/>
            <a:ext cx="5295392" cy="512598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4352" y="4752566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352" y="4765266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5652" y="4866866"/>
            <a:ext cx="381254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132306" y="5468963"/>
            <a:ext cx="1490069" cy="466198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4352" y="5587762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352" y="5600462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5652" y="5702062"/>
            <a:ext cx="381254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71500" y="6502400"/>
            <a:ext cx="6417005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506078"/>
                </a:solidFill>
                <a:latin typeface="DejaVu Sans"/>
              </a:defRPr>
            </a:pPr>
            <a:r>
              <a:t>As setas numeradas correspondem às explicações abaixo.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684530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85800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6858000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Senha atual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7125081"/>
            <a:ext cx="6251905" cy="2456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Digite a senha que você está usando para entrar no App Monitor.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7484999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7497699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800" y="7497699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Nova senha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800" y="7764780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Escolha outra senha com pelo menos 12 caracteres. Confira a digitação antes de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salvar.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8319516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8332216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800" y="8332216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Salvar senha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8599297"/>
            <a:ext cx="6251905" cy="2456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Clique em Salvar senha. Passe a usar a nova senha nos próximos acessos.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500" y="9512300"/>
            <a:ext cx="6671005" cy="69850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6900" y="9626600"/>
            <a:ext cx="6366205" cy="384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Se não souber a senha atual e não conseguir entrar, peça ao administrador uma nova senha</a:t>
            </a:r>
          </a:p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provisória.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4500" y="10401300"/>
            <a:ext cx="635350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506078"/>
                </a:solidFill>
                <a:latin typeface="DejaVu Sans"/>
              </a:defRPr>
            </a:pPr>
            <a:r>
              <a:t>Telas e dados de demonstração • Outubro de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1805" y="10375900"/>
            <a:ext cx="508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25/28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5" cy="106920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5" cy="88900"/>
          </a:xfrm>
          <a:prstGeom prst="rect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0" y="304800"/>
            <a:ext cx="393700" cy="342900"/>
          </a:xfrm>
          <a:prstGeom prst="rect">
            <a:avLst/>
          </a:prstGeom>
          <a:solidFill>
            <a:srgbClr val="10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" y="355600"/>
            <a:ext cx="330200" cy="24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368300"/>
            <a:ext cx="5334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APP MONITOR / MANUAL DO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850900"/>
            <a:ext cx="6671005" cy="447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142843"/>
                </a:solidFill>
                <a:latin typeface="DejaVu Sans"/>
              </a:defRPr>
            </a:pPr>
            <a:r>
              <a:t>Use também pelo celular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1336040"/>
            <a:ext cx="6671005" cy="237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9"/>
              </a:lnSpc>
              <a:spcAft>
                <a:spcPts val="0"/>
              </a:spcAft>
              <a:defRPr sz="1130" b="0">
                <a:solidFill>
                  <a:srgbClr val="506078"/>
                </a:solidFill>
                <a:latin typeface="DejaVu Sans"/>
              </a:defRPr>
            </a:pPr>
            <a:r>
              <a:t>Abra o mesmo endereço no navegador e entre com sua própria conta.</a:t>
            </a:r>
          </a:p>
        </p:txBody>
      </p:sp>
      <p:pic>
        <p:nvPicPr>
          <p:cNvPr id="9" name="Picture 8" descr="20-cel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360" y="2019300"/>
            <a:ext cx="1995284" cy="431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360091" y="2390308"/>
            <a:ext cx="671629" cy="245392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75960" y="2398704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5960" y="2411404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17260" y="2513004"/>
            <a:ext cx="717431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006321" y="2390308"/>
            <a:ext cx="767955" cy="245392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55444" y="2398704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5444" y="2411404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4799676" y="2513004"/>
            <a:ext cx="143068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746678" y="3014474"/>
            <a:ext cx="333645" cy="230044"/>
          </a:xfrm>
          <a:prstGeom prst="rect">
            <a:avLst/>
          </a:prstGeom>
          <a:noFill/>
          <a:ln w="17780">
            <a:solidFill>
              <a:srgbClr val="206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55444" y="3015196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5444" y="3027896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4105724" y="3129496"/>
            <a:ext cx="837020" cy="0"/>
          </a:xfrm>
          <a:prstGeom prst="line">
            <a:avLst/>
          </a:prstGeom>
          <a:ln w="20320">
            <a:solidFill>
              <a:srgbClr val="206D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71500" y="6502400"/>
            <a:ext cx="6417005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506078"/>
                </a:solidFill>
                <a:latin typeface="DejaVu Sans"/>
              </a:defRPr>
            </a:pPr>
            <a:r>
              <a:t>As setas numeradas correspondem às explicações abaixo.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684530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85800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6858000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Acompanhe os pedidos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7125081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Use Agendamentos para consultar as solicitações mesmo estando fora do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computador.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7679817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7692517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800" y="7692517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Acesse os empréstimos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800" y="7959598"/>
            <a:ext cx="6251905" cy="2456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Em Meus dispositivos, você pode preencher os alunos e registrar a devolução.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8319516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8332216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800" y="8332216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Saia ao terminar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8599297"/>
            <a:ext cx="6251905" cy="2456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Em um aparelho compartilhado, clique em Sair para encerrar sua sessão.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500" y="9512300"/>
            <a:ext cx="6671005" cy="69850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6900" y="9626600"/>
            <a:ext cx="6366205" cy="3843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Se desejar, use a opção do navegador para adicionar um atalho à tela inicial. As funções</a:t>
            </a:r>
          </a:p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continuam disponíveis pelo site.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4500" y="10401300"/>
            <a:ext cx="635350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506078"/>
                </a:solidFill>
                <a:latin typeface="DejaVu Sans"/>
              </a:defRPr>
            </a:pPr>
            <a:r>
              <a:t>Telas e dados de demonstração • Outubro de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1805" y="10375900"/>
            <a:ext cx="508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26/28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5" cy="106920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5" cy="88900"/>
          </a:xfrm>
          <a:prstGeom prst="rect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0" y="304800"/>
            <a:ext cx="393700" cy="342900"/>
          </a:xfrm>
          <a:prstGeom prst="rect">
            <a:avLst/>
          </a:prstGeom>
          <a:solidFill>
            <a:srgbClr val="10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" y="355600"/>
            <a:ext cx="330200" cy="24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368300"/>
            <a:ext cx="5334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APP MONITOR / MANUAL DO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850900"/>
            <a:ext cx="6671005" cy="447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142843"/>
                </a:solidFill>
                <a:latin typeface="DejaVu Sans"/>
              </a:defRPr>
            </a:pPr>
            <a:r>
              <a:t>Dúvidas e soluções rápidas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1336040"/>
            <a:ext cx="6671005" cy="237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9"/>
              </a:lnSpc>
              <a:spcAft>
                <a:spcPts val="0"/>
              </a:spcAft>
              <a:defRPr sz="1130" b="0">
                <a:solidFill>
                  <a:srgbClr val="506078"/>
                </a:solidFill>
                <a:latin typeface="DejaVu Sans"/>
              </a:defRPr>
            </a:pPr>
            <a:r>
              <a:t>Antes de fazer outro cadastro ou repetir uma ação, confira estas orientações.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42570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3840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438400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Não consigo entrar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2705481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Revise o e-mail e a senha. Se esqueceu a senha, peça a redefinição ao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administrador. Se a conta estiver desativada, procure a escola.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260217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272917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3272917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O site demora a abrir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3539998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A primeira conexão pode demorar enquanto o servidor gratuito é ativado. Aguarde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a conexão e siga a orientação de tentar novamente, se aparecer.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094734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107434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4107434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Não consigo devolver ou pedir novamente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" y="4374515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Preencha todos os alunos e o relato para devolver. Para novos pedidos, verifique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se existe relatório pendente da sua assinatura.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4929251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941951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800" y="4941951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Há erro no pedido ou problema com um aparelho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800" y="5209032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Antes da liberação, use Editar quando disponível. Durante o uso, comunique a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equipe e registre a ocorrência no relato.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4500" y="9512300"/>
            <a:ext cx="6671005" cy="69850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6900" y="9626600"/>
            <a:ext cx="6366205" cy="2175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t>Ao pedir ajuda, informe a turma, a data e a mensagem exibida. Nunca envie sua senha.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500" y="10401300"/>
            <a:ext cx="635350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506078"/>
                </a:solidFill>
                <a:latin typeface="DejaVu Sans"/>
              </a:defRPr>
            </a:pPr>
            <a:r>
              <a:t>Telas e dados de demonstração • Outubro de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1805" y="10375900"/>
            <a:ext cx="508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27/28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5" cy="106920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5" cy="88900"/>
          </a:xfrm>
          <a:prstGeom prst="rect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4500" y="304800"/>
            <a:ext cx="393700" cy="342900"/>
          </a:xfrm>
          <a:prstGeom prst="rect">
            <a:avLst/>
          </a:prstGeom>
          <a:solidFill>
            <a:srgbClr val="109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" y="355600"/>
            <a:ext cx="330200" cy="24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DejaVu Sans"/>
              </a:defRPr>
            </a:pPr>
            <a:r>
              <a:t>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900" y="368300"/>
            <a:ext cx="5334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APP MONITOR / MANUAL DO PROFESSOR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850900"/>
            <a:ext cx="6671005" cy="447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142843"/>
                </a:solidFill>
                <a:latin typeface="DejaVu Sans"/>
              </a:defRPr>
            </a:pPr>
            <a:r>
              <a:t>Checklist do professor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" y="1336040"/>
            <a:ext cx="6671005" cy="2373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69"/>
              </a:lnSpc>
              <a:spcAft>
                <a:spcPts val="0"/>
              </a:spcAft>
              <a:defRPr sz="1130" b="0">
                <a:solidFill>
                  <a:srgbClr val="506078"/>
                </a:solidFill>
                <a:latin typeface="DejaVu Sans"/>
              </a:defRPr>
            </a:pPr>
            <a:r>
              <a:t>Use esta página como lembrete antes, durante e depois da aula.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425700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38400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438400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Antes da aula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2705481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Entrar na própria conta → registrar o pedido → acompanhar a aprovação →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combinar a retirada.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260217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272917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3272917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Durante a aula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3539998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Conferir os aparelhos recebidos → preencher e salvar os alunos → comunicar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problemas e solicitar extras, se necessário.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094734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107434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4107434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Ao terminar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" y="4374515"/>
            <a:ext cx="6251905" cy="440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Conferir e entregar os aparelhos → escrever o relato → enviar a devolução →</a:t>
            </a:r>
          </a:p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aguardar a conferência.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4929251"/>
            <a:ext cx="228600" cy="228600"/>
          </a:xfrm>
          <a:prstGeom prst="ellipse">
            <a:avLst/>
          </a:prstGeom>
          <a:solidFill>
            <a:srgbClr val="206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941951"/>
            <a:ext cx="228600" cy="2324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DejaVu San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800" y="4941951"/>
            <a:ext cx="6251905" cy="2670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3"/>
              </a:lnSpc>
              <a:spcAft>
                <a:spcPts val="0"/>
              </a:spcAft>
              <a:defRPr sz="1310" b="1">
                <a:solidFill>
                  <a:srgbClr val="142843"/>
                </a:solidFill>
                <a:latin typeface="DejaVu Sans"/>
              </a:defRPr>
            </a:pPr>
            <a:r>
              <a:t>Para concluir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800" y="5209032"/>
            <a:ext cx="6251905" cy="2456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4"/>
              </a:lnSpc>
              <a:spcAft>
                <a:spcPts val="0"/>
              </a:spcAft>
              <a:defRPr sz="1180" b="0">
                <a:solidFill>
                  <a:srgbClr val="142843"/>
                </a:solidFill>
                <a:latin typeface="DejaVu Sans"/>
              </a:defRPr>
            </a:pPr>
            <a:r>
              <a:t>Ler o relatório → assinar → consultar o Histórico e salvar o PDF quando precisar.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4500" y="9512300"/>
            <a:ext cx="6671005" cy="698500"/>
          </a:xfrm>
          <a:prstGeom prst="roundRect">
            <a:avLst/>
          </a:prstGeom>
          <a:solidFill>
            <a:srgbClr val="F4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6900" y="9626600"/>
            <a:ext cx="6366205" cy="2175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13"/>
              </a:lnSpc>
              <a:spcAft>
                <a:spcPts val="0"/>
              </a:spcAft>
              <a:defRPr sz="1010" b="0">
                <a:solidFill>
                  <a:srgbClr val="506078"/>
                </a:solidFill>
                <a:latin typeface="DejaVu Sans"/>
              </a:defRPr>
            </a:pPr>
            <a:r>
              <a:rPr>
                <a:hlinkClick r:id="rId2"/>
              </a:rPr>
              <a:t>Acesse: https://app-monitor-interface.onrender.com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500" y="10401300"/>
            <a:ext cx="6353505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506078"/>
                </a:solidFill>
                <a:latin typeface="DejaVu Sans"/>
              </a:defRPr>
            </a:pPr>
            <a:r>
              <a:t>Telas e dados de demonstração • Outubro de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1805" y="10375900"/>
            <a:ext cx="508000" cy="1993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506078"/>
                </a:solidFill>
                <a:latin typeface="DejaVu Sans"/>
              </a:defRPr>
            </a:pPr>
            <a:r>
              <a:t>28/28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 Monitor — Manual ilustrado do professor</dc:title>
  <dc:subject/>
  <dc:creator>APP Monitor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